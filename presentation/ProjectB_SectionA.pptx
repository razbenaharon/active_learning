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Positives bought</c:v>
                </c:pt>
              </c:strCache>
            </c:strRef>
          </c:tx>
          <c:spPr>
            <a:solidFill>
              <a:srgbClr val="E3A140"/>
            </a:solidFill>
            <a:effectLst/>
          </c:spPr>
          <c:invertIfNegative val="0"/>
          <c:dLbls>
            <c:numFmt formatCode="#,##0" sourceLinked="0"/>
            <c:txPr>
              <a:bodyPr/>
              <a:lstStyle/>
              <a:p>
                <a:pPr>
                  <a:defRPr b="1" i="0" strike="noStrike" sz="1100" u="none">
                    <a:solidFill>
                      <a:srgbClr val="1B2436"/>
                    </a:solidFill>
                    <a:latin typeface="Calibri"/>
                  </a:defRPr>
                </a:pPr>
              </a:p>
            </c:txPr>
            <c:showLegendKey val="0"/>
            <c:showVal val="1"/>
            <c:showCatName val="0"/>
            <c:showSerName val="0"/>
            <c:showPercent val="0"/>
            <c:showBubbleSize val="0"/>
            <c:showLeaderLines val="0"/>
          </c:dLbls>
          <c:dPt>
            <c:idx val="0"/>
            <c:invertIfNegative val="0"/>
            <c:bubble3D val="0"/>
            <c:spPr>
              <a:solidFill>
                <a:srgbClr val="E3A140"/>
              </a:solidFill>
              <a:effectLst/>
            </c:spPr>
          </c:dPt>
          <c:dPt>
            <c:idx val="1"/>
            <c:invertIfNegative val="0"/>
            <c:bubble3D val="0"/>
            <c:spPr>
              <a:solidFill>
                <a:srgbClr val="C4761C"/>
              </a:solidFill>
              <a:effectLst/>
            </c:spPr>
          </c:dPt>
          <c:dPt>
            <c:idx val="2"/>
            <c:invertIfNegative val="0"/>
            <c:bubble3D val="0"/>
            <c:spPr>
              <a:solidFill>
                <a:srgbClr val="8A4A0B"/>
              </a:solidFill>
              <a:effectLst/>
            </c:spPr>
          </c:dPt>
          <c:cat>
            <c:multiLvlStrRef>
              <c:f>Sheet1!$A$2:$A$4</c:f>
              <c:multiLvlStrCache>
                <c:ptCount val="3"/>
                <c:lvl>
                  <c:pt idx="0">
                    <c:v>Random</c:v>
                  </c:pt>
                  <c:pt idx="1">
                    <c:v>Uncertainty</c:v>
                  </c:pt>
                  <c:pt idx="2">
                    <c:v>Hunting</c:v>
                  </c:pt>
                </c:lvl>
              </c:multiLvlStrCache>
            </c:multiLvlStrRef>
          </c:cat>
          <c:val>
            <c:numRef>
              <c:f>Sheet1!$B$2:$B$4</c:f>
              <c:numCache>
                <c:formatCode>General</c:formatCode>
                <c:ptCount val="3"/>
                <c:pt idx="0">
                  <c:v>1652</c:v>
                </c:pt>
                <c:pt idx="1">
                  <c:v>2408</c:v>
                </c:pt>
                <c:pt idx="2">
                  <c:v>3140</c:v>
                </c:pt>
              </c:numCache>
            </c:numRef>
          </c:val>
        </c:ser>
        <c:dLbls>
          <c:numFmt formatCode="#,##0" sourceLinked="0"/>
          <c:txPr>
            <a:bodyPr/>
            <a:lstStyle/>
            <a:p>
              <a:pPr>
                <a:defRPr b="1" i="0" strike="noStrike" sz="1100" u="none">
                  <a:solidFill>
                    <a:srgbClr val="1B243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4000"/>
        </c:scaling>
        <c:delete val="0"/>
        <c:axPos val="l"/>
        <c:majorGridlines>
          <c:spPr>
            <a:ln w="12700" cap="flat">
              <a:solidFill>
                <a:srgbClr val="E2E6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797"/>
                </a:solidFill>
                <a:latin typeface="Calibri"/>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 F1</c:v>
                </c:pt>
              </c:strCache>
            </c:strRef>
          </c:tx>
          <c:spPr>
            <a:solidFill>
              <a:srgbClr val="E3A140"/>
            </a:solidFill>
            <a:effectLst/>
          </c:spPr>
          <c:invertIfNegative val="0"/>
          <c:dLbls>
            <c:numFmt formatCode="0.0000" sourceLinked="0"/>
            <c:txPr>
              <a:bodyPr/>
              <a:lstStyle/>
              <a:p>
                <a:pPr>
                  <a:defRPr b="1" i="0" strike="noStrike" sz="1100" u="none">
                    <a:solidFill>
                      <a:srgbClr val="1B2436"/>
                    </a:solidFill>
                    <a:latin typeface="Calibri"/>
                  </a:defRPr>
                </a:pPr>
              </a:p>
            </c:txPr>
            <c:showLegendKey val="0"/>
            <c:showVal val="1"/>
            <c:showCatName val="0"/>
            <c:showSerName val="0"/>
            <c:showPercent val="0"/>
            <c:showBubbleSize val="0"/>
            <c:showLeaderLines val="0"/>
          </c:dLbls>
          <c:dPt>
            <c:idx val="0"/>
            <c:invertIfNegative val="0"/>
            <c:bubble3D val="0"/>
            <c:spPr>
              <a:solidFill>
                <a:srgbClr val="E3A140"/>
              </a:solidFill>
              <a:effectLst/>
            </c:spPr>
          </c:dPt>
          <c:dPt>
            <c:idx val="1"/>
            <c:invertIfNegative val="0"/>
            <c:bubble3D val="0"/>
            <c:spPr>
              <a:solidFill>
                <a:srgbClr val="C4761C"/>
              </a:solidFill>
              <a:effectLst/>
            </c:spPr>
          </c:dPt>
          <c:dPt>
            <c:idx val="2"/>
            <c:invertIfNegative val="0"/>
            <c:bubble3D val="0"/>
            <c:spPr>
              <a:solidFill>
                <a:srgbClr val="8A4A0B"/>
              </a:solidFill>
              <a:effectLst/>
            </c:spPr>
          </c:dPt>
          <c:cat>
            <c:multiLvlStrRef>
              <c:f>Sheet1!$A$2:$A$4</c:f>
              <c:multiLvlStrCache>
                <c:ptCount val="3"/>
                <c:lvl>
                  <c:pt idx="0">
                    <c:v>Random</c:v>
                  </c:pt>
                  <c:pt idx="1">
                    <c:v>Uncertainty</c:v>
                  </c:pt>
                  <c:pt idx="2">
                    <c:v>Hunting</c:v>
                  </c:pt>
                </c:lvl>
              </c:multiLvlStrCache>
            </c:multiLvlStrRef>
          </c:cat>
          <c:val>
            <c:numRef>
              <c:f>Sheet1!$B$2:$B$4</c:f>
              <c:numCache>
                <c:formatCode>General</c:formatCode>
                <c:ptCount val="3"/>
                <c:pt idx="0">
                  <c:v>0.6124</c:v>
                </c:pt>
                <c:pt idx="1">
                  <c:v>0.6316</c:v>
                </c:pt>
                <c:pt idx="2">
                  <c:v>0.6471</c:v>
                </c:pt>
              </c:numCache>
            </c:numRef>
          </c:val>
        </c:ser>
        <c:dLbls>
          <c:numFmt formatCode="0.0000" sourceLinked="0"/>
          <c:txPr>
            <a:bodyPr/>
            <a:lstStyle/>
            <a:p>
              <a:pPr>
                <a:defRPr b="1" i="0" strike="noStrike" sz="1100" u="none">
                  <a:solidFill>
                    <a:srgbClr val="1B243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0.66"/>
          <c:min val="0.58"/>
        </c:scaling>
        <c:delete val="0"/>
        <c:axPos val="l"/>
        <c:majorGridlines>
          <c:spPr>
            <a:ln w="12700" cap="flat">
              <a:solidFill>
                <a:srgbClr val="E2E6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797"/>
                </a:solidFill>
                <a:latin typeface="Calibri"/>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Batch precision</c:v>
                </c:pt>
              </c:strCache>
            </c:strRef>
          </c:tx>
          <c:spPr>
            <a:solidFill>
              <a:srgbClr val="B45309"/>
            </a:solidFill>
            <a:ln w="38100" cap="flat">
              <a:solidFill>
                <a:srgbClr val="B45309"/>
              </a:solidFill>
              <a:prstDash val="solid"/>
              <a:round/>
            </a:ln>
            <a:effectLst/>
          </c:spPr>
          <c:invertIfNegative val="0"/>
          <c:dLbls>
            <c:numFmt formatCode="0.0&quot;%&quot;" sourceLinked="0"/>
            <c:txPr>
              <a:bodyPr/>
              <a:lstStyle/>
              <a:p>
                <a:pPr>
                  <a:defRPr b="1" i="0" strike="noStrike" sz="1100" u="none">
                    <a:solidFill>
                      <a:srgbClr val="1B2436"/>
                    </a:solidFill>
                    <a:latin typeface="Calibri"/>
                  </a:defRPr>
                </a:pPr>
              </a:p>
            </c:txPr>
            <c:dLblPos val="t"/>
            <c:showLegendKey val="0"/>
            <c:showVal val="1"/>
            <c:showCatName val="0"/>
            <c:showSerName val="0"/>
            <c:showPercent val="0"/>
            <c:showBubbleSize val="0"/>
            <c:showLeaderLines val="0"/>
          </c:dLbls>
          <c:marker>
            <c:symbol val="circle"/>
            <c:size val="9"/>
            <c:spPr>
              <a:solidFill>
                <a:srgbClr val="B45309"/>
              </a:solidFill>
              <a:ln w="2" cap="flat">
                <a:solidFill>
                  <a:srgbClr val="FFFFFF"/>
                </a:solidFill>
                <a:prstDash val="solid"/>
                <a:round/>
              </a:ln>
              <a:effectLst/>
            </c:spPr>
          </c:marker>
          <c:cat>
            <c:multiLvlStrRef>
              <c:f>Sheet1!$A$2:$A$6</c:f>
              <c:multiLvlStrCache>
                <c:ptCount val="5"/>
                <c:lvl>
                  <c:pt idx="0">
                    <c:v>Round 1</c:v>
                  </c:pt>
                  <c:pt idx="1">
                    <c:v>Round 2</c:v>
                  </c:pt>
                  <c:pt idx="2">
                    <c:v>Round 3</c:v>
                  </c:pt>
                  <c:pt idx="3">
                    <c:v>Round 4</c:v>
                  </c:pt>
                  <c:pt idx="4">
                    <c:v>Round 5</c:v>
                  </c:pt>
                </c:lvl>
              </c:multiLvlStrCache>
            </c:multiLvlStrRef>
          </c:cat>
          <c:val>
            <c:numRef>
              <c:f>Sheet1!$B$2:$B$6</c:f>
              <c:numCache>
                <c:formatCode>General</c:formatCode>
                <c:ptCount val="5"/>
                <c:pt idx="0">
                  <c:v>79.5</c:v>
                </c:pt>
                <c:pt idx="1">
                  <c:v>78.2</c:v>
                </c:pt>
                <c:pt idx="2">
                  <c:v>60.8</c:v>
                </c:pt>
                <c:pt idx="3">
                  <c:v>51.2</c:v>
                </c:pt>
                <c:pt idx="4">
                  <c:v>44.3</c:v>
                </c:pt>
              </c:numCache>
            </c:numRef>
          </c:val>
          <c:smooth val="0"/>
        </c:ser>
        <c:dLbls>
          <c:numFmt formatCode="0.0&quot;%&quot;" sourceLinked="0"/>
          <c:txPr>
            <a:bodyPr/>
            <a:lstStyle/>
            <a:p>
              <a:pPr>
                <a:defRPr b="1" i="0" strike="noStrike" sz="1100" u="none">
                  <a:solidFill>
                    <a:srgbClr val="1B2436"/>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Pool base rate (33%)</c:v>
                </c:pt>
              </c:strCache>
            </c:strRef>
          </c:tx>
          <c:spPr>
            <a:solidFill>
              <a:srgbClr val="7C8797"/>
            </a:solidFill>
            <a:ln w="25400" cap="flat">
              <a:solidFill>
                <a:srgbClr val="7C8797"/>
              </a:solidFill>
              <a:prstDash val="solid"/>
              <a:round/>
            </a:ln>
            <a:effectLst/>
          </c:spPr>
          <c:invertIfNegative val="0"/>
          <c:dLbls>
            <c:numFmt formatCode="#,##0" sourceLinked="0"/>
            <c:txPr>
              <a:bodyPr/>
              <a:lstStyle/>
              <a:p>
                <a:pPr>
                  <a:defRPr b="1" i="0" strike="noStrike" sz="1100" u="none">
                    <a:solidFill>
                      <a:srgbClr val="1B2436"/>
                    </a:solidFill>
                    <a:latin typeface="Calibri"/>
                  </a:defRPr>
                </a:pPr>
              </a:p>
            </c:txPr>
            <c:showLegendKey val="0"/>
            <c:showVal val="0"/>
            <c:showCatName val="0"/>
            <c:showSerName val="0"/>
            <c:showPercent val="0"/>
            <c:showBubbleSize val="0"/>
            <c:showLeaderLines val="0"/>
          </c:dLbls>
          <c:marker>
            <c:symbol val="none"/>
            <c:size val="6"/>
            <c:spPr>
              <a:solidFill>
                <a:srgbClr val="7C8797"/>
              </a:solidFill>
              <a:ln w="9525" cap="flat">
                <a:solidFill>
                  <a:srgbClr val="7C8797"/>
                </a:solidFill>
                <a:prstDash val="solid"/>
                <a:round/>
              </a:ln>
              <a:effectLst/>
            </c:spPr>
          </c:marker>
          <c:cat>
            <c:multiLvlStrRef>
              <c:f>Sheet1!$A$2:$A$6</c:f>
              <c:multiLvlStrCache>
                <c:ptCount val="5"/>
                <c:lvl>
                  <c:pt idx="0">
                    <c:v>Round 1</c:v>
                  </c:pt>
                  <c:pt idx="1">
                    <c:v>Round 2</c:v>
                  </c:pt>
                  <c:pt idx="2">
                    <c:v>Round 3</c:v>
                  </c:pt>
                  <c:pt idx="3">
                    <c:v>Round 4</c:v>
                  </c:pt>
                  <c:pt idx="4">
                    <c:v>Round 5</c:v>
                  </c:pt>
                </c:lvl>
              </c:multiLvlStrCache>
            </c:multiLvlStrRef>
          </c:cat>
          <c:val>
            <c:numRef>
              <c:f>Sheet1!$C$2:$C$6</c:f>
              <c:numCache>
                <c:formatCode>General</c:formatCode>
                <c:ptCount val="5"/>
                <c:pt idx="0">
                  <c:v>33</c:v>
                </c:pt>
                <c:pt idx="1">
                  <c:v>33</c:v>
                </c:pt>
                <c:pt idx="2">
                  <c:v>33</c:v>
                </c:pt>
                <c:pt idx="3">
                  <c:v>33</c:v>
                </c:pt>
                <c:pt idx="4">
                  <c:v>33</c:v>
                </c:pt>
              </c:numCache>
            </c:numRef>
          </c:val>
          <c:smooth val="0"/>
        </c:ser>
        <c:dLbls>
          <c:numFmt formatCode="#,##0" sourceLinked="0"/>
          <c:txPr>
            <a:bodyPr/>
            <a:lstStyle/>
            <a:p>
              <a:pPr>
                <a:defRPr b="1" i="0" strike="noStrike" sz="1100" u="none">
                  <a:solidFill>
                    <a:srgbClr val="1B2436"/>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90"/>
          <c:min val="25"/>
        </c:scaling>
        <c:delete val="0"/>
        <c:axPos val="l"/>
        <c:majorGridlines>
          <c:spPr>
            <a:ln w="12700" cap="flat">
              <a:solidFill>
                <a:srgbClr val="E2E6EC"/>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797"/>
                </a:solidFill>
                <a:latin typeface="Calibri"/>
              </a:defRPr>
            </a:pPr>
            <a:endParaRPr lang="en-US"/>
          </a:p>
        </c:txPr>
        <c:crossAx val="2094734554"/>
        <c:crosses val="autoZero"/>
        <c:crossBetween val="between"/>
        <c:majorUnit val="15"/>
      </c:valAx>
      <c:spPr>
        <a:noFill/>
        <a:ln>
          <a:noFill/>
        </a:ln>
        <a:effectLst/>
      </c:spPr>
    </c:plotArea>
    <c:legend>
      <c:legendPos val="b"/>
      <c:overlay val="0"/>
      <c:txPr>
        <a:bodyPr/>
        <a:lstStyle/>
        <a:p>
          <a:pPr>
            <a:defRPr sz="1050">
              <a:solidFill>
                <a:srgbClr val="4A556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Mean F1</c:v>
                </c:pt>
              </c:strCache>
            </c:strRef>
          </c:tx>
          <c:spPr>
            <a:solidFill>
              <a:srgbClr val="B45309"/>
            </a:solidFill>
            <a:ln w="38100" cap="flat">
              <a:solidFill>
                <a:srgbClr val="B45309"/>
              </a:solidFill>
              <a:prstDash val="solid"/>
              <a:round/>
            </a:ln>
            <a:effectLst/>
          </c:spPr>
          <c:invertIfNegative val="0"/>
          <c:dLbls>
            <c:numFmt formatCode="0.0000" sourceLinked="0"/>
            <c:txPr>
              <a:bodyPr/>
              <a:lstStyle/>
              <a:p>
                <a:pPr>
                  <a:defRPr b="1" i="0" strike="noStrike" sz="1100" u="none">
                    <a:solidFill>
                      <a:srgbClr val="1B2436"/>
                    </a:solidFill>
                    <a:latin typeface="Calibri"/>
                  </a:defRPr>
                </a:pPr>
              </a:p>
            </c:txPr>
            <c:dLblPos val="t"/>
            <c:showLegendKey val="0"/>
            <c:showVal val="1"/>
            <c:showCatName val="0"/>
            <c:showSerName val="0"/>
            <c:showPercent val="0"/>
            <c:showBubbleSize val="0"/>
            <c:showLeaderLines val="0"/>
          </c:dLbls>
          <c:marker>
            <c:symbol val="circle"/>
            <c:size val="9"/>
            <c:spPr>
              <a:solidFill>
                <a:srgbClr val="B45309"/>
              </a:solidFill>
              <a:ln w="25400" cap="flat">
                <a:solidFill>
                  <a:srgbClr val="FFFFFF"/>
                </a:solidFill>
                <a:prstDash val="solid"/>
                <a:round/>
              </a:ln>
              <a:effectLst/>
            </c:spPr>
          </c:marker>
          <c:cat>
            <c:multiLvlStrRef>
              <c:f>Sheet1!$A$2:$A$10</c:f>
              <c:multiLvlStrCache>
                <c:ptCount val="9"/>
                <c:lvl>
                  <c:pt idx="0">
                    <c:v>1x</c:v>
                  </c:pt>
                  <c:pt idx="1">
                    <c:v>1.25x</c:v>
                  </c:pt>
                  <c:pt idx="2">
                    <c:v>1.5x</c:v>
                  </c:pt>
                  <c:pt idx="3">
                    <c:v>1.75x</c:v>
                  </c:pt>
                  <c:pt idx="4">
                    <c:v>2x</c:v>
                  </c:pt>
                  <c:pt idx="5">
                    <c:v>2.25x</c:v>
                  </c:pt>
                  <c:pt idx="6">
                    <c:v>2.5x</c:v>
                  </c:pt>
                  <c:pt idx="7">
                    <c:v>3x</c:v>
                  </c:pt>
                  <c:pt idx="8">
                    <c:v>4x</c:v>
                  </c:pt>
                </c:lvl>
              </c:multiLvlStrCache>
            </c:multiLvlStrRef>
          </c:cat>
          <c:val>
            <c:numRef>
              <c:f>Sheet1!$B$2:$B$10</c:f>
              <c:numCache>
                <c:formatCode>General</c:formatCode>
                <c:ptCount val="9"/>
                <c:pt idx="0">
                  <c:v>0.6293</c:v>
                </c:pt>
                <c:pt idx="1">
                  <c:v>0.6372</c:v>
                </c:pt>
                <c:pt idx="2">
                  <c:v>0.6359</c:v>
                </c:pt>
                <c:pt idx="3">
                  <c:v>0.6388</c:v>
                </c:pt>
                <c:pt idx="4">
                  <c:v>0.6471</c:v>
                </c:pt>
                <c:pt idx="5">
                  <c:v>0.641</c:v>
                </c:pt>
                <c:pt idx="6">
                  <c:v>0.6411</c:v>
                </c:pt>
                <c:pt idx="7">
                  <c:v>0.6465</c:v>
                </c:pt>
                <c:pt idx="8">
                  <c:v>0.6424</c:v>
                </c:pt>
              </c:numCache>
            </c:numRef>
          </c:val>
          <c:smooth val="0"/>
        </c:ser>
        <c:dLbls>
          <c:numFmt formatCode="0.0000" sourceLinked="0"/>
          <c:txPr>
            <a:bodyPr/>
            <a:lstStyle/>
            <a:p>
              <a:pPr>
                <a:defRPr b="1" i="0" strike="noStrike" sz="1100" u="none">
                  <a:solidFill>
                    <a:srgbClr val="1B2436"/>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7C8797"/>
                    </a:solidFill>
                    <a:latin typeface="Calibri"/>
                  </a:defRPr>
                </a:pPr>
                <a:r>
                  <a:rPr sz="1050" b="0" i="0" u="none" strike="noStrike">
                    <a:solidFill>
                      <a:srgbClr val="7C8797"/>
                    </a:solidFill>
                    <a:latin typeface="Calibri"/>
                  </a:rPr>
                  <a:t>Copies of each known positive in the final training set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0.65"/>
          <c:min val="0.625"/>
        </c:scaling>
        <c:delete val="0"/>
        <c:axPos val="l"/>
        <c:majorGridlines>
          <c:spPr>
            <a:ln w="12700" cap="flat">
              <a:solidFill>
                <a:srgbClr val="E2E6EC"/>
              </a:solidFill>
              <a:prstDash val="solid"/>
              <a:round/>
            </a:ln>
          </c:spPr>
        </c:majorGridlines>
        <c:title>
          <c:tx>
            <c:rich>
              <a:bodyPr/>
              <a:lstStyle/>
              <a:p>
                <a:pPr>
                  <a:defRPr sz="1050" b="0" i="0" u="none" strike="noStrike">
                    <a:solidFill>
                      <a:srgbClr val="7C8797"/>
                    </a:solidFill>
                    <a:latin typeface="Calibri"/>
                  </a:defRPr>
                </a:pPr>
                <a:r>
                  <a:rPr sz="1050" b="0" i="0" u="none" strike="noStrike">
                    <a:solidFill>
                      <a:srgbClr val="7C8797"/>
                    </a:solidFill>
                    <a:latin typeface="Calibri"/>
                  </a:rPr>
                  <a:t>Mean F1 (“Left”)</a:t>
                </a:r>
              </a:p>
            </c:rich>
          </c:tx>
          <c:layout/>
          <c:overlay val="0"/>
        </c:title>
        <c:numFmt formatCode="0.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797"/>
                </a:solidFill>
                <a:latin typeface="Calibri"/>
              </a:defRPr>
            </a:pPr>
            <a:endParaRPr lang="en-US"/>
          </a:p>
        </c:txPr>
        <c:crossAx val="2094734554"/>
        <c:crosses val="autoZero"/>
        <c:crossBetween val="between"/>
        <c:majorUnit val="0.00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Delta vs our 0.6471</c:v>
                </c:pt>
              </c:strCache>
            </c:strRef>
          </c:tx>
          <c:spPr>
            <a:solidFill>
              <a:srgbClr val="B45309"/>
            </a:solidFill>
            <a:effectLst/>
          </c:spPr>
          <c:invertIfNegative val="0"/>
          <c:dLbls>
            <c:numFmt formatCode="+0.0000;-0.0000" sourceLinked="0"/>
            <c:txPr>
              <a:bodyPr/>
              <a:lstStyle/>
              <a:p>
                <a:pPr>
                  <a:defRPr b="1" i="0" strike="noStrike" sz="1100" u="none">
                    <a:solidFill>
                      <a:srgbClr val="1B2436"/>
                    </a:solidFill>
                    <a:latin typeface="Calibri"/>
                  </a:defRPr>
                </a:pPr>
              </a:p>
            </c:txPr>
            <c:showLegendKey val="0"/>
            <c:showVal val="1"/>
            <c:showCatName val="0"/>
            <c:showSerName val="0"/>
            <c:showPercent val="0"/>
            <c:showBubbleSize val="0"/>
            <c:showLeaderLines val="0"/>
          </c:dLbls>
          <c:dPt>
            <c:idx val="0"/>
            <c:invertIfNegative val="0"/>
            <c:bubble3D val="0"/>
            <c:spPr>
              <a:solidFill>
                <a:srgbClr val="B45309"/>
              </a:solidFill>
              <a:effectLst/>
            </c:spPr>
          </c:dPt>
          <c:dPt>
            <c:idx val="1"/>
            <c:invertIfNegative val="0"/>
            <c:bubble3D val="0"/>
            <c:spPr>
              <a:solidFill>
                <a:srgbClr val="7C8797"/>
              </a:solidFill>
              <a:effectLst/>
            </c:spPr>
          </c:dPt>
          <c:dPt>
            <c:idx val="2"/>
            <c:invertIfNegative val="0"/>
            <c:bubble3D val="0"/>
            <c:spPr>
              <a:solidFill>
                <a:srgbClr val="7C8797"/>
              </a:solidFill>
              <a:effectLst/>
            </c:spPr>
          </c:dPt>
          <c:dPt>
            <c:idx val="3"/>
            <c:invertIfNegative val="0"/>
            <c:bubble3D val="0"/>
            <c:spPr>
              <a:solidFill>
                <a:srgbClr val="7C8797"/>
              </a:solidFill>
              <a:effectLst/>
            </c:spPr>
          </c:dPt>
          <c:dPt>
            <c:idx val="4"/>
            <c:invertIfNegative val="0"/>
            <c:bubble3D val="0"/>
            <c:spPr>
              <a:solidFill>
                <a:srgbClr val="7C8797"/>
              </a:solidFill>
              <a:effectLst/>
            </c:spPr>
          </c:dPt>
          <c:dPt>
            <c:idx val="5"/>
            <c:invertIfNegative val="0"/>
            <c:bubble3D val="0"/>
            <c:spPr>
              <a:solidFill>
                <a:srgbClr val="7C8797"/>
              </a:solidFill>
              <a:effectLst/>
            </c:spPr>
          </c:dPt>
          <c:dPt>
            <c:idx val="6"/>
            <c:invertIfNegative val="0"/>
            <c:bubble3D val="0"/>
            <c:spPr>
              <a:solidFill>
                <a:srgbClr val="7C8797"/>
              </a:solidFill>
              <a:effectLst/>
            </c:spPr>
          </c:dPt>
          <c:dPt>
            <c:idx val="7"/>
            <c:invertIfNegative val="0"/>
            <c:bubble3D val="0"/>
            <c:spPr>
              <a:solidFill>
                <a:srgbClr val="7C8797"/>
              </a:solidFill>
              <a:effectLst/>
            </c:spPr>
          </c:dPt>
          <c:dPt>
            <c:idx val="8"/>
            <c:invertIfNegative val="0"/>
            <c:bubble3D val="0"/>
            <c:spPr>
              <a:solidFill>
                <a:srgbClr val="7C8797"/>
              </a:solidFill>
              <a:effectLst/>
            </c:spPr>
          </c:dPt>
          <c:cat>
            <c:multiLvlStrRef>
              <c:f>Sheet1!$A$2:$A$10</c:f>
              <c:multiLvlStrCache>
                <c:ptCount val="9"/>
                <c:lvl>
                  <c:pt idx="0">
                    <c:v>Tiered hard-positive oversampling</c:v>
                  </c:pt>
                  <c:pt idx="1">
                    <c:v>Graded batch schedule</c:v>
                  </c:pt>
                  <c:pt idx="2">
                    <c:v>Hard-negative upweighting</c:v>
                  </c:pt>
                  <c:pt idx="3">
                    <c:v>10 x 500 rounds</c:v>
                  </c:pt>
                  <c:pt idx="4">
                    <c:v>Balanced scout</c:v>
                  </c:pt>
                  <c:pt idx="5">
                    <c:v>KMeans diversity</c:v>
                  </c:pt>
                  <c:pt idx="6">
                    <c:v>Cluster exploration (5%)</c:v>
                  </c:pt>
                  <c:pt idx="7">
                    <c:v>Uncertainty sampling</c:v>
                  </c:pt>
                  <c:pt idx="8">
                    <c:v>Random acquisition</c:v>
                  </c:pt>
                </c:lvl>
              </c:multiLvlStrCache>
            </c:multiLvlStrRef>
          </c:cat>
          <c:val>
            <c:numRef>
              <c:f>Sheet1!$B$2:$B$10</c:f>
              <c:numCache>
                <c:formatCode>General</c:formatCode>
                <c:ptCount val="9"/>
                <c:pt idx="0">
                  <c:v>0.001</c:v>
                </c:pt>
                <c:pt idx="1">
                  <c:v>-0.0027</c:v>
                </c:pt>
                <c:pt idx="2">
                  <c:v>-0.0037</c:v>
                </c:pt>
                <c:pt idx="3">
                  <c:v>-0.0072</c:v>
                </c:pt>
                <c:pt idx="4">
                  <c:v>-0.0091</c:v>
                </c:pt>
                <c:pt idx="5">
                  <c:v>-0.0096</c:v>
                </c:pt>
                <c:pt idx="6">
                  <c:v>-0.0126</c:v>
                </c:pt>
                <c:pt idx="7">
                  <c:v>-0.0155</c:v>
                </c:pt>
                <c:pt idx="8">
                  <c:v>-0.0347</c:v>
                </c:pt>
              </c:numCache>
            </c:numRef>
          </c:val>
        </c:ser>
        <c:dLbls>
          <c:numFmt formatCode="+0.0000;-0.0000" sourceLinked="0"/>
          <c:txPr>
            <a:bodyPr/>
            <a:lstStyle/>
            <a:p>
              <a:pPr>
                <a:defRPr b="1" i="0" strike="noStrike" sz="1100" u="none">
                  <a:solidFill>
                    <a:srgbClr val="1B243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0.005"/>
          <c:min val="-0.04"/>
        </c:scaling>
        <c:delete val="0"/>
        <c:axPos val="b"/>
        <c:majorGridlines>
          <c:spPr>
            <a:ln w="12700" cap="flat">
              <a:solidFill>
                <a:srgbClr val="E2E6EC"/>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7C8797"/>
                </a:solidFill>
                <a:latin typeface="Calibri"/>
              </a:defRPr>
            </a:pPr>
            <a:endParaRPr lang="en-US"/>
          </a:p>
        </c:txPr>
        <c:crossAx val="2094734554"/>
        <c:crosses val="autoZero"/>
        <c:crossBetween val="between"/>
        <c:majorUnit val="0.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thousand nine hundred unlabeled employees. Five hundred free labels, five thousand we can buy, and a Random Forest we're not allowed to change. Two facts decided everything: only the positive class scores, and the half threshold is frozen.  [~15s]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asked what a label is worth. Random sampling buys sixteen-fifty positives — the base rate. Textbook uncertainty sampling buys twenty-four hundred. Just asking for the most-likely positives buys thirty-one-forty, and wins by point-oh-one-five F1. When the metric is minority-class F1, refining the boundary is the wrong instinct.  [~20s]   Handoff: “Lior — so when do we spend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five rounds, not one. Retraining the scout between rounds buys two hundred forty extra positives for free. But look at the decay — eighty percent yield in round one, forty-four by round five, closing on the thirty-three percent base rate. We're running out of vein.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threshold. It's frozen, so we move the data instead: duplicate every positive once. That's plus point-oh-one-eight — our biggest win. But be careful. Two-x and three-x differ by point-oh-six percent, well inside our noise floor. So we claim duplication matters — not that two is magic.  [~20s]   Handoff: “Raz, what didn't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Thirty-two configurations. We pre-declared a plus-point-oh-oh-five bar — our measured noise — and nothing cleared it. Our best candidate gained point-oh-oh-one and hurt seed one, so we rejected it. Query-by-committee turned out identical to probability: a forest already is a committee.  [~17s]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Point-six-four-seven-one mean F1, every seed inside thirty-five seconds. The lesson: read the metric before you write the algorithm. It quietly rewrote the whole problem.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0287000" y="457200"/>
            <a:ext cx="868680" cy="274320"/>
          </a:xfrm>
          <a:prstGeom prst="roundRect">
            <a:avLst>
              <a:gd name="adj" fmla="val 50000"/>
            </a:avLst>
          </a:prstGeom>
          <a:solidFill>
            <a:srgbClr val="E3A140"/>
          </a:solidFill>
          <a:ln/>
        </p:spPr>
      </p:sp>
      <p:sp>
        <p:nvSpPr>
          <p:cNvPr id="3" name="Text 1"/>
          <p:cNvSpPr/>
          <p:nvPr/>
        </p:nvSpPr>
        <p:spPr>
          <a:xfrm>
            <a:off x="10287000" y="457200"/>
            <a:ext cx="868680" cy="274320"/>
          </a:xfrm>
          <a:prstGeom prst="rect">
            <a:avLst/>
          </a:prstGeom>
          <a:noFill/>
          <a:ln/>
        </p:spPr>
        <p:txBody>
          <a:bodyPr wrap="square" lIns="0" tIns="0" rIns="0" bIns="0" rtlCol="0" anchor="ctr"/>
          <a:lstStyle/>
          <a:p>
            <a:pPr algn="ctr" indent="0" marL="0">
              <a:buNone/>
            </a:pPr>
            <a:r>
              <a:rPr lang="en-US" sz="1000" b="1" spc="100" kern="0" dirty="0">
                <a:solidFill>
                  <a:srgbClr val="14213D"/>
                </a:solidFill>
                <a:latin typeface="Calibri" pitchFamily="34" charset="0"/>
                <a:ea typeface="Calibri" pitchFamily="34" charset="-122"/>
                <a:cs typeface="Calibri" pitchFamily="34" charset="-120"/>
              </a:rPr>
              <a:t>RAZ</a:t>
            </a:r>
            <a:endParaRPr lang="en-US" sz="1000" dirty="0"/>
          </a:p>
        </p:txBody>
      </p:sp>
      <p:sp>
        <p:nvSpPr>
          <p:cNvPr id="4" name="Text 2"/>
          <p:cNvSpPr/>
          <p:nvPr/>
        </p:nvSpPr>
        <p:spPr>
          <a:xfrm>
            <a:off x="11265408" y="457200"/>
            <a:ext cx="466344" cy="274320"/>
          </a:xfrm>
          <a:prstGeom prst="rect">
            <a:avLst/>
          </a:prstGeom>
          <a:noFill/>
          <a:ln/>
        </p:spPr>
        <p:txBody>
          <a:bodyPr wrap="square" lIns="0" tIns="0" rIns="0" bIns="0" rtlCol="0" anchor="ctr"/>
          <a:lstStyle/>
          <a:p>
            <a:pPr algn="r" indent="0" marL="0">
              <a:buNone/>
            </a:pPr>
            <a:r>
              <a:rPr lang="en-US" sz="1000" dirty="0">
                <a:solidFill>
                  <a:srgbClr val="8E9CB8"/>
                </a:solidFill>
                <a:latin typeface="Calibri" pitchFamily="34" charset="0"/>
                <a:ea typeface="Calibri" pitchFamily="34" charset="-122"/>
                <a:cs typeface="Calibri" pitchFamily="34" charset="-120"/>
              </a:rPr>
              <a:t>1 / 6</a:t>
            </a:r>
            <a:endParaRPr lang="en-US" sz="1000" dirty="0"/>
          </a:p>
        </p:txBody>
      </p:sp>
      <p:sp>
        <p:nvSpPr>
          <p:cNvPr id="5" name="Text 3"/>
          <p:cNvSpPr/>
          <p:nvPr/>
        </p:nvSpPr>
        <p:spPr>
          <a:xfrm>
            <a:off x="658368" y="457200"/>
            <a:ext cx="5486400" cy="256032"/>
          </a:xfrm>
          <a:prstGeom prst="rect">
            <a:avLst/>
          </a:prstGeom>
          <a:noFill/>
          <a:ln/>
        </p:spPr>
        <p:txBody>
          <a:bodyPr wrap="square" lIns="0" tIns="0" rIns="0" bIns="0" rtlCol="0" anchor="ctr"/>
          <a:lstStyle/>
          <a:p>
            <a:pPr indent="0" marL="0">
              <a:buNone/>
            </a:pPr>
            <a:r>
              <a:rPr lang="en-US" sz="1150" b="1" spc="160" kern="0" dirty="0">
                <a:solidFill>
                  <a:srgbClr val="E3A140"/>
                </a:solidFill>
                <a:latin typeface="Calibri" pitchFamily="34" charset="0"/>
                <a:ea typeface="Calibri" pitchFamily="34" charset="-122"/>
                <a:cs typeface="Calibri" pitchFamily="34" charset="-120"/>
              </a:rPr>
              <a:t>Project B  ·  Section A</a:t>
            </a:r>
            <a:endParaRPr lang="en-US" sz="1150" dirty="0"/>
          </a:p>
        </p:txBody>
      </p:sp>
      <p:sp>
        <p:nvSpPr>
          <p:cNvPr id="6" name="Text 4"/>
          <p:cNvSpPr/>
          <p:nvPr/>
        </p:nvSpPr>
        <p:spPr>
          <a:xfrm>
            <a:off x="658368" y="914400"/>
            <a:ext cx="5669280" cy="1371600"/>
          </a:xfrm>
          <a:prstGeom prst="rect">
            <a:avLst/>
          </a:prstGeom>
          <a:noFill/>
          <a:ln/>
        </p:spPr>
        <p:txBody>
          <a:bodyPr wrap="square" lIns="0" tIns="0" rIns="0" bIns="0" rtlCol="0" anchor="ctr"/>
          <a:lstStyle/>
          <a:p>
            <a:pPr indent="0" marL="0">
              <a:lnSpc>
                <a:spcPct val="106000"/>
              </a:lnSpc>
              <a:buNone/>
            </a:pPr>
            <a:r>
              <a:rPr lang="en-US" sz="3400" b="1" dirty="0">
                <a:solidFill>
                  <a:srgbClr val="FFFFFF"/>
                </a:solidFill>
                <a:latin typeface="Cambria" pitchFamily="34" charset="0"/>
                <a:ea typeface="Cambria" pitchFamily="34" charset="-122"/>
                <a:cs typeface="Cambria" pitchFamily="34" charset="-120"/>
              </a:rPr>
              <a:t>Buy 5,000 labels.</a:t>
            </a:r>
            <a:endParaRPr lang="en-US" sz="3400" dirty="0"/>
          </a:p>
          <a:p>
            <a:pPr indent="0" marL="0">
              <a:lnSpc>
                <a:spcPct val="106000"/>
              </a:lnSpc>
              <a:buNone/>
            </a:pPr>
            <a:r>
              <a:rPr lang="en-US" sz="3400" b="1" dirty="0">
                <a:solidFill>
                  <a:srgbClr val="FFFFFF"/>
                </a:solidFill>
                <a:latin typeface="Cambria" pitchFamily="34" charset="0"/>
                <a:ea typeface="Cambria" pitchFamily="34" charset="-122"/>
                <a:cs typeface="Cambria" pitchFamily="34" charset="-120"/>
              </a:rPr>
              <a:t>Maximise F1 on “Left”.</a:t>
            </a:r>
            <a:endParaRPr lang="en-US" sz="3400" dirty="0"/>
          </a:p>
        </p:txBody>
      </p:sp>
      <p:sp>
        <p:nvSpPr>
          <p:cNvPr id="7" name="Text 5"/>
          <p:cNvSpPr/>
          <p:nvPr/>
        </p:nvSpPr>
        <p:spPr>
          <a:xfrm>
            <a:off x="658368" y="2340864"/>
            <a:ext cx="5394960" cy="640080"/>
          </a:xfrm>
          <a:prstGeom prst="rect">
            <a:avLst/>
          </a:prstGeom>
          <a:noFill/>
          <a:ln/>
        </p:spPr>
        <p:txBody>
          <a:bodyPr wrap="square" lIns="0" tIns="0" rIns="0" bIns="0" rtlCol="0" anchor="ctr"/>
          <a:lstStyle/>
          <a:p>
            <a:pPr indent="0" marL="0">
              <a:lnSpc>
                <a:spcPct val="120000"/>
              </a:lnSpc>
              <a:buNone/>
            </a:pPr>
            <a:r>
              <a:rPr lang="en-US" sz="1350" dirty="0">
                <a:solidFill>
                  <a:srgbClr val="C3CEE4"/>
                </a:solidFill>
                <a:latin typeface="Calibri" pitchFamily="34" charset="0"/>
                <a:ea typeface="Calibri" pitchFamily="34" charset="-122"/>
                <a:cs typeface="Calibri" pitchFamily="34" charset="-120"/>
              </a:rPr>
              <a:t>An oracle sells labels one employee at a time. The classifier is fixed. The only real decision is which employees to pay for.</a:t>
            </a:r>
            <a:endParaRPr lang="en-US" sz="1350" dirty="0"/>
          </a:p>
        </p:txBody>
      </p:sp>
      <p:sp>
        <p:nvSpPr>
          <p:cNvPr id="8" name="Text 6"/>
          <p:cNvSpPr/>
          <p:nvPr/>
        </p:nvSpPr>
        <p:spPr>
          <a:xfrm>
            <a:off x="658368" y="3163824"/>
            <a:ext cx="2651760" cy="365760"/>
          </a:xfrm>
          <a:prstGeom prst="rect">
            <a:avLst/>
          </a:prstGeom>
          <a:noFill/>
          <a:ln/>
        </p:spPr>
        <p:txBody>
          <a:bodyPr wrap="square" lIns="0" tIns="0" rIns="0" bIns="0" rtlCol="0" anchor="ctr"/>
          <a:lstStyle/>
          <a:p>
            <a:pPr indent="0" marL="0">
              <a:buNone/>
            </a:pPr>
            <a:r>
              <a:rPr lang="en-US" sz="1250" dirty="0">
                <a:solidFill>
                  <a:srgbClr val="8E9CB8"/>
                </a:solidFill>
                <a:latin typeface="Calibri" pitchFamily="34" charset="0"/>
                <a:ea typeface="Calibri" pitchFamily="34" charset="-122"/>
                <a:cs typeface="Calibri" pitchFamily="34" charset="-120"/>
              </a:rPr>
              <a:t>Unlabeled pool</a:t>
            </a:r>
            <a:endParaRPr lang="en-US" sz="1250" dirty="0"/>
          </a:p>
        </p:txBody>
      </p:sp>
      <p:sp>
        <p:nvSpPr>
          <p:cNvPr id="9" name="Text 7"/>
          <p:cNvSpPr/>
          <p:nvPr/>
        </p:nvSpPr>
        <p:spPr>
          <a:xfrm>
            <a:off x="3346704" y="3163824"/>
            <a:ext cx="2706624"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14,900</a:t>
            </a:r>
            <a:endParaRPr lang="en-US" sz="1250" dirty="0"/>
          </a:p>
        </p:txBody>
      </p:sp>
      <p:sp>
        <p:nvSpPr>
          <p:cNvPr id="10" name="Shape 8"/>
          <p:cNvSpPr/>
          <p:nvPr/>
        </p:nvSpPr>
        <p:spPr>
          <a:xfrm>
            <a:off x="658368" y="3566160"/>
            <a:ext cx="5394960" cy="0"/>
          </a:xfrm>
          <a:prstGeom prst="line">
            <a:avLst/>
          </a:prstGeom>
          <a:noFill/>
          <a:ln w="9525">
            <a:solidFill>
              <a:srgbClr val="2C3A5C"/>
            </a:solidFill>
            <a:prstDash val="solid"/>
          </a:ln>
        </p:spPr>
      </p:sp>
      <p:sp>
        <p:nvSpPr>
          <p:cNvPr id="11" name="Text 9"/>
          <p:cNvSpPr/>
          <p:nvPr/>
        </p:nvSpPr>
        <p:spPr>
          <a:xfrm>
            <a:off x="658368" y="3621024"/>
            <a:ext cx="2651760" cy="365760"/>
          </a:xfrm>
          <a:prstGeom prst="rect">
            <a:avLst/>
          </a:prstGeom>
          <a:noFill/>
          <a:ln/>
        </p:spPr>
        <p:txBody>
          <a:bodyPr wrap="square" lIns="0" tIns="0" rIns="0" bIns="0" rtlCol="0" anchor="ctr"/>
          <a:lstStyle/>
          <a:p>
            <a:pPr indent="0" marL="0">
              <a:buNone/>
            </a:pPr>
            <a:r>
              <a:rPr lang="en-US" sz="1250" dirty="0">
                <a:solidFill>
                  <a:srgbClr val="8E9CB8"/>
                </a:solidFill>
                <a:latin typeface="Calibri" pitchFamily="34" charset="0"/>
                <a:ea typeface="Calibri" pitchFamily="34" charset="-122"/>
                <a:cs typeface="Calibri" pitchFamily="34" charset="-120"/>
              </a:rPr>
              <a:t>Free initial labels</a:t>
            </a:r>
            <a:endParaRPr lang="en-US" sz="1250" dirty="0"/>
          </a:p>
        </p:txBody>
      </p:sp>
      <p:sp>
        <p:nvSpPr>
          <p:cNvPr id="12" name="Text 10"/>
          <p:cNvSpPr/>
          <p:nvPr/>
        </p:nvSpPr>
        <p:spPr>
          <a:xfrm>
            <a:off x="3346704" y="3621024"/>
            <a:ext cx="2706624"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500</a:t>
            </a:r>
            <a:endParaRPr lang="en-US" sz="1250" dirty="0"/>
          </a:p>
        </p:txBody>
      </p:sp>
      <p:sp>
        <p:nvSpPr>
          <p:cNvPr id="13" name="Shape 11"/>
          <p:cNvSpPr/>
          <p:nvPr/>
        </p:nvSpPr>
        <p:spPr>
          <a:xfrm>
            <a:off x="658368" y="4023360"/>
            <a:ext cx="5394960" cy="0"/>
          </a:xfrm>
          <a:prstGeom prst="line">
            <a:avLst/>
          </a:prstGeom>
          <a:noFill/>
          <a:ln w="9525">
            <a:solidFill>
              <a:srgbClr val="2C3A5C"/>
            </a:solidFill>
            <a:prstDash val="solid"/>
          </a:ln>
        </p:spPr>
      </p:sp>
      <p:sp>
        <p:nvSpPr>
          <p:cNvPr id="14" name="Text 12"/>
          <p:cNvSpPr/>
          <p:nvPr/>
        </p:nvSpPr>
        <p:spPr>
          <a:xfrm>
            <a:off x="658368" y="4078224"/>
            <a:ext cx="2651760" cy="365760"/>
          </a:xfrm>
          <a:prstGeom prst="rect">
            <a:avLst/>
          </a:prstGeom>
          <a:noFill/>
          <a:ln/>
        </p:spPr>
        <p:txBody>
          <a:bodyPr wrap="square" lIns="0" tIns="0" rIns="0" bIns="0" rtlCol="0" anchor="ctr"/>
          <a:lstStyle/>
          <a:p>
            <a:pPr indent="0" marL="0">
              <a:buNone/>
            </a:pPr>
            <a:r>
              <a:rPr lang="en-US" sz="1250" dirty="0">
                <a:solidFill>
                  <a:srgbClr val="8E9CB8"/>
                </a:solidFill>
                <a:latin typeface="Calibri" pitchFamily="34" charset="0"/>
                <a:ea typeface="Calibri" pitchFamily="34" charset="-122"/>
                <a:cs typeface="Calibri" pitchFamily="34" charset="-120"/>
              </a:rPr>
              <a:t>Oracle budget</a:t>
            </a:r>
            <a:endParaRPr lang="en-US" sz="1250" dirty="0"/>
          </a:p>
        </p:txBody>
      </p:sp>
      <p:sp>
        <p:nvSpPr>
          <p:cNvPr id="15" name="Text 13"/>
          <p:cNvSpPr/>
          <p:nvPr/>
        </p:nvSpPr>
        <p:spPr>
          <a:xfrm>
            <a:off x="3346704" y="4078224"/>
            <a:ext cx="2706624"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5,000 unique IDs</a:t>
            </a:r>
            <a:endParaRPr lang="en-US" sz="1250" dirty="0"/>
          </a:p>
        </p:txBody>
      </p:sp>
      <p:sp>
        <p:nvSpPr>
          <p:cNvPr id="16" name="Shape 14"/>
          <p:cNvSpPr/>
          <p:nvPr/>
        </p:nvSpPr>
        <p:spPr>
          <a:xfrm>
            <a:off x="658368" y="4480560"/>
            <a:ext cx="5394960" cy="0"/>
          </a:xfrm>
          <a:prstGeom prst="line">
            <a:avLst/>
          </a:prstGeom>
          <a:noFill/>
          <a:ln w="9525">
            <a:solidFill>
              <a:srgbClr val="2C3A5C"/>
            </a:solidFill>
            <a:prstDash val="solid"/>
          </a:ln>
        </p:spPr>
      </p:sp>
      <p:sp>
        <p:nvSpPr>
          <p:cNvPr id="17" name="Text 15"/>
          <p:cNvSpPr/>
          <p:nvPr/>
        </p:nvSpPr>
        <p:spPr>
          <a:xfrm>
            <a:off x="658368" y="4535424"/>
            <a:ext cx="2651760" cy="365760"/>
          </a:xfrm>
          <a:prstGeom prst="rect">
            <a:avLst/>
          </a:prstGeom>
          <a:noFill/>
          <a:ln/>
        </p:spPr>
        <p:txBody>
          <a:bodyPr wrap="square" lIns="0" tIns="0" rIns="0" bIns="0" rtlCol="0" anchor="ctr"/>
          <a:lstStyle/>
          <a:p>
            <a:pPr indent="0" marL="0">
              <a:buNone/>
            </a:pPr>
            <a:r>
              <a:rPr lang="en-US" sz="1250" dirty="0">
                <a:solidFill>
                  <a:srgbClr val="8E9CB8"/>
                </a:solidFill>
                <a:latin typeface="Calibri" pitchFamily="34" charset="0"/>
                <a:ea typeface="Calibri" pitchFamily="34" charset="-122"/>
                <a:cs typeface="Calibri" pitchFamily="34" charset="-120"/>
              </a:rPr>
              <a:t>Classifier</a:t>
            </a:r>
            <a:endParaRPr lang="en-US" sz="1250" dirty="0"/>
          </a:p>
        </p:txBody>
      </p:sp>
      <p:sp>
        <p:nvSpPr>
          <p:cNvPr id="18" name="Text 16"/>
          <p:cNvSpPr/>
          <p:nvPr/>
        </p:nvSpPr>
        <p:spPr>
          <a:xfrm>
            <a:off x="3346704" y="4535424"/>
            <a:ext cx="2706624"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RandomForest — fixed</a:t>
            </a:r>
            <a:endParaRPr lang="en-US" sz="1250" dirty="0"/>
          </a:p>
        </p:txBody>
      </p:sp>
      <p:sp>
        <p:nvSpPr>
          <p:cNvPr id="19" name="Shape 17"/>
          <p:cNvSpPr/>
          <p:nvPr/>
        </p:nvSpPr>
        <p:spPr>
          <a:xfrm>
            <a:off x="658368" y="4937760"/>
            <a:ext cx="5394960" cy="0"/>
          </a:xfrm>
          <a:prstGeom prst="line">
            <a:avLst/>
          </a:prstGeom>
          <a:noFill/>
          <a:ln w="9525">
            <a:solidFill>
              <a:srgbClr val="2C3A5C"/>
            </a:solidFill>
            <a:prstDash val="solid"/>
          </a:ln>
        </p:spPr>
      </p:sp>
      <p:sp>
        <p:nvSpPr>
          <p:cNvPr id="20" name="Text 18"/>
          <p:cNvSpPr/>
          <p:nvPr/>
        </p:nvSpPr>
        <p:spPr>
          <a:xfrm>
            <a:off x="658368" y="4992624"/>
            <a:ext cx="2651760" cy="365760"/>
          </a:xfrm>
          <a:prstGeom prst="rect">
            <a:avLst/>
          </a:prstGeom>
          <a:noFill/>
          <a:ln/>
        </p:spPr>
        <p:txBody>
          <a:bodyPr wrap="square" lIns="0" tIns="0" rIns="0" bIns="0" rtlCol="0" anchor="ctr"/>
          <a:lstStyle/>
          <a:p>
            <a:pPr indent="0" marL="0">
              <a:buNone/>
            </a:pPr>
            <a:r>
              <a:rPr lang="en-US" sz="1250" dirty="0">
                <a:solidFill>
                  <a:srgbClr val="8E9CB8"/>
                </a:solidFill>
                <a:latin typeface="Calibri" pitchFamily="34" charset="0"/>
                <a:ea typeface="Calibri" pitchFamily="34" charset="-122"/>
                <a:cs typeface="Calibri" pitchFamily="34" charset="-120"/>
              </a:rPr>
              <a:t>Metric</a:t>
            </a:r>
            <a:endParaRPr lang="en-US" sz="1250" dirty="0"/>
          </a:p>
        </p:txBody>
      </p:sp>
      <p:sp>
        <p:nvSpPr>
          <p:cNvPr id="21" name="Text 19"/>
          <p:cNvSpPr/>
          <p:nvPr/>
        </p:nvSpPr>
        <p:spPr>
          <a:xfrm>
            <a:off x="3346704" y="4992624"/>
            <a:ext cx="2706624"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F1 (“Left”), threshold 0.5</a:t>
            </a:r>
            <a:endParaRPr lang="en-US" sz="1250" dirty="0"/>
          </a:p>
        </p:txBody>
      </p:sp>
      <p:sp>
        <p:nvSpPr>
          <p:cNvPr id="22" name="Shape 20"/>
          <p:cNvSpPr/>
          <p:nvPr/>
        </p:nvSpPr>
        <p:spPr>
          <a:xfrm>
            <a:off x="658368" y="5394960"/>
            <a:ext cx="5394960" cy="0"/>
          </a:xfrm>
          <a:prstGeom prst="line">
            <a:avLst/>
          </a:prstGeom>
          <a:noFill/>
          <a:ln w="9525">
            <a:solidFill>
              <a:srgbClr val="2C3A5C"/>
            </a:solidFill>
            <a:prstDash val="solid"/>
          </a:ln>
        </p:spPr>
      </p:sp>
      <p:sp>
        <p:nvSpPr>
          <p:cNvPr id="23" name="Shape 21"/>
          <p:cNvSpPr/>
          <p:nvPr/>
        </p:nvSpPr>
        <p:spPr>
          <a:xfrm>
            <a:off x="6537960" y="914400"/>
            <a:ext cx="4992624" cy="5074920"/>
          </a:xfrm>
          <a:prstGeom prst="roundRect">
            <a:avLst>
              <a:gd name="adj" fmla="val 916"/>
            </a:avLst>
          </a:prstGeom>
          <a:solidFill>
            <a:srgbClr val="22304F"/>
          </a:solidFill>
          <a:ln/>
        </p:spPr>
      </p:sp>
      <p:sp>
        <p:nvSpPr>
          <p:cNvPr id="24" name="Text 22"/>
          <p:cNvSpPr/>
          <p:nvPr/>
        </p:nvSpPr>
        <p:spPr>
          <a:xfrm>
            <a:off x="6830568" y="1188720"/>
            <a:ext cx="4407408" cy="274320"/>
          </a:xfrm>
          <a:prstGeom prst="rect">
            <a:avLst/>
          </a:prstGeom>
          <a:noFill/>
          <a:ln/>
        </p:spPr>
        <p:txBody>
          <a:bodyPr wrap="square" lIns="0" tIns="0" rIns="0" bIns="0" rtlCol="0" anchor="ctr"/>
          <a:lstStyle/>
          <a:p>
            <a:pPr indent="0" marL="0">
              <a:buNone/>
            </a:pPr>
            <a:r>
              <a:rPr lang="en-US" sz="1100" b="1" spc="110" kern="0" dirty="0">
                <a:solidFill>
                  <a:srgbClr val="E3A140"/>
                </a:solidFill>
                <a:latin typeface="Calibri" pitchFamily="34" charset="0"/>
                <a:ea typeface="Calibri" pitchFamily="34" charset="-122"/>
                <a:cs typeface="Calibri" pitchFamily="34" charset="-120"/>
              </a:rPr>
              <a:t>THE METRIC DICTATES THE STRATEGY</a:t>
            </a:r>
            <a:endParaRPr lang="en-US" sz="1100" dirty="0"/>
          </a:p>
        </p:txBody>
      </p:sp>
      <p:sp>
        <p:nvSpPr>
          <p:cNvPr id="25" name="Text 23"/>
          <p:cNvSpPr/>
          <p:nvPr/>
        </p:nvSpPr>
        <p:spPr>
          <a:xfrm>
            <a:off x="6830568" y="1591056"/>
            <a:ext cx="4407408" cy="1097280"/>
          </a:xfrm>
          <a:prstGeom prst="rect">
            <a:avLst/>
          </a:prstGeom>
          <a:noFill/>
          <a:ln/>
        </p:spPr>
        <p:txBody>
          <a:bodyPr wrap="square" lIns="0" tIns="0" rIns="0" bIns="0" rtlCol="0" anchor="ctr"/>
          <a:lstStyle/>
          <a:p>
            <a:pPr indent="0" marL="0">
              <a:lnSpc>
                <a:spcPct val="122000"/>
              </a:lnSpc>
              <a:buNone/>
            </a:pPr>
            <a:r>
              <a:rPr lang="en-US" sz="1300" b="1" dirty="0">
                <a:solidFill>
                  <a:srgbClr val="FFFFFF"/>
                </a:solidFill>
                <a:latin typeface="Calibri" pitchFamily="34" charset="0"/>
                <a:ea typeface="Calibri" pitchFamily="34" charset="-122"/>
                <a:cs typeface="Calibri" pitchFamily="34" charset="-120"/>
              </a:rPr>
              <a:t>Only the positive class scores. </a:t>
            </a:r>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True negatives contribute nothing to F1, so a label is worth buying mainly if it is — or teaches us about — a “Left”.</a:t>
            </a:r>
            <a:endParaRPr lang="en-US" sz="1300" dirty="0"/>
          </a:p>
        </p:txBody>
      </p:sp>
      <p:sp>
        <p:nvSpPr>
          <p:cNvPr id="26" name="Text 24"/>
          <p:cNvSpPr/>
          <p:nvPr/>
        </p:nvSpPr>
        <p:spPr>
          <a:xfrm>
            <a:off x="6830568" y="2779776"/>
            <a:ext cx="4407408" cy="1097280"/>
          </a:xfrm>
          <a:prstGeom prst="rect">
            <a:avLst/>
          </a:prstGeom>
          <a:noFill/>
          <a:ln/>
        </p:spPr>
        <p:txBody>
          <a:bodyPr wrap="square" lIns="0" tIns="0" rIns="0" bIns="0" rtlCol="0" anchor="ctr"/>
          <a:lstStyle/>
          <a:p>
            <a:pPr indent="0" marL="0">
              <a:lnSpc>
                <a:spcPct val="122000"/>
              </a:lnSpc>
              <a:buNone/>
            </a:pPr>
            <a:r>
              <a:rPr lang="en-US" sz="1300" b="1" dirty="0">
                <a:solidFill>
                  <a:srgbClr val="FFFFFF"/>
                </a:solidFill>
                <a:latin typeface="Calibri" pitchFamily="34" charset="0"/>
                <a:ea typeface="Calibri" pitchFamily="34" charset="-122"/>
                <a:cs typeface="Calibri" pitchFamily="34" charset="-120"/>
              </a:rPr>
              <a:t>The 0.5 threshold is welded shut. </a:t>
            </a:r>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The grader calls predict(). We cannot tune it, so the only lever on precision/recall is what the forest is trained on.</a:t>
            </a:r>
            <a:endParaRPr lang="en-US" sz="1300" dirty="0"/>
          </a:p>
        </p:txBody>
      </p:sp>
      <p:sp>
        <p:nvSpPr>
          <p:cNvPr id="27" name="Text 25"/>
          <p:cNvSpPr/>
          <p:nvPr/>
        </p:nvSpPr>
        <p:spPr>
          <a:xfrm>
            <a:off x="6830568" y="3986784"/>
            <a:ext cx="4407408" cy="868680"/>
          </a:xfrm>
          <a:prstGeom prst="rect">
            <a:avLst/>
          </a:prstGeom>
          <a:noFill/>
          <a:ln/>
        </p:spPr>
        <p:txBody>
          <a:bodyPr wrap="square" lIns="0" tIns="0" rIns="0" bIns="0" rtlCol="0" anchor="ctr"/>
          <a:lstStyle/>
          <a:p>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Those two facts produced our two design choices: </a:t>
            </a:r>
            <a:pPr indent="0" marL="0">
              <a:lnSpc>
                <a:spcPct val="122000"/>
              </a:lnSpc>
              <a:buNone/>
            </a:pPr>
            <a:r>
              <a:rPr lang="en-US" sz="1300" b="1" dirty="0">
                <a:solidFill>
                  <a:srgbClr val="E3A140"/>
                </a:solidFill>
                <a:latin typeface="Calibri" pitchFamily="34" charset="0"/>
                <a:ea typeface="Calibri" pitchFamily="34" charset="-122"/>
                <a:cs typeface="Calibri" pitchFamily="34" charset="-120"/>
              </a:rPr>
              <a:t>hunt positives</a:t>
            </a:r>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 then </a:t>
            </a:r>
            <a:pPr indent="0" marL="0">
              <a:lnSpc>
                <a:spcPct val="122000"/>
              </a:lnSpc>
              <a:buNone/>
            </a:pPr>
            <a:r>
              <a:rPr lang="en-US" sz="1300" b="1" dirty="0">
                <a:solidFill>
                  <a:srgbClr val="E3A140"/>
                </a:solidFill>
                <a:latin typeface="Calibri" pitchFamily="34" charset="0"/>
                <a:ea typeface="Calibri" pitchFamily="34" charset="-122"/>
                <a:cs typeface="Calibri" pitchFamily="34" charset="-120"/>
              </a:rPr>
              <a:t>reweight by duplication</a:t>
            </a:r>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a:t>
            </a:r>
            <a:endParaRPr lang="en-US" sz="1300" dirty="0"/>
          </a:p>
        </p:txBody>
      </p:sp>
      <p:sp>
        <p:nvSpPr>
          <p:cNvPr id="28" name="Text 26"/>
          <p:cNvSpPr/>
          <p:nvPr/>
        </p:nvSpPr>
        <p:spPr>
          <a:xfrm>
            <a:off x="6830568" y="5285232"/>
            <a:ext cx="4407408" cy="274320"/>
          </a:xfrm>
          <a:prstGeom prst="rect">
            <a:avLst/>
          </a:prstGeom>
          <a:noFill/>
          <a:ln/>
        </p:spPr>
        <p:txBody>
          <a:bodyPr wrap="square" lIns="0" tIns="0" rIns="0" bIns="0" rtlCol="0" anchor="ctr"/>
          <a:lstStyle/>
          <a:p>
            <a:pPr indent="0" marL="0">
              <a:buNone/>
            </a:pPr>
            <a:r>
              <a:rPr lang="en-US" sz="1150" dirty="0">
                <a:solidFill>
                  <a:srgbClr val="8E9CB8"/>
                </a:solidFill>
                <a:latin typeface="Calibri" pitchFamily="34" charset="0"/>
                <a:ea typeface="Calibri" pitchFamily="34" charset="-122"/>
                <a:cs typeface="Calibri" pitchFamily="34" charset="-120"/>
              </a:rPr>
              <a:t>Raz Ben Aharon   ·   Lior Malachi</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87000" y="457200"/>
            <a:ext cx="868680" cy="274320"/>
          </a:xfrm>
          <a:prstGeom prst="roundRect">
            <a:avLst>
              <a:gd name="adj" fmla="val 50000"/>
            </a:avLst>
          </a:prstGeom>
          <a:solidFill>
            <a:srgbClr val="B45309"/>
          </a:solidFill>
          <a:ln/>
        </p:spPr>
      </p:sp>
      <p:sp>
        <p:nvSpPr>
          <p:cNvPr id="3" name="Text 1"/>
          <p:cNvSpPr/>
          <p:nvPr/>
        </p:nvSpPr>
        <p:spPr>
          <a:xfrm>
            <a:off x="10287000" y="457200"/>
            <a:ext cx="868680"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RAZ</a:t>
            </a:r>
            <a:endParaRPr lang="en-US" sz="1000" dirty="0"/>
          </a:p>
        </p:txBody>
      </p:sp>
      <p:sp>
        <p:nvSpPr>
          <p:cNvPr id="4" name="Text 2"/>
          <p:cNvSpPr/>
          <p:nvPr/>
        </p:nvSpPr>
        <p:spPr>
          <a:xfrm>
            <a:off x="11265408" y="457200"/>
            <a:ext cx="466344" cy="274320"/>
          </a:xfrm>
          <a:prstGeom prst="rect">
            <a:avLst/>
          </a:prstGeom>
          <a:noFill/>
          <a:ln/>
        </p:spPr>
        <p:txBody>
          <a:bodyPr wrap="square" lIns="0" tIns="0" rIns="0" bIns="0" rtlCol="0" anchor="ctr"/>
          <a:lstStyle/>
          <a:p>
            <a:pPr algn="r" indent="0" marL="0">
              <a:buNone/>
            </a:pPr>
            <a:r>
              <a:rPr lang="en-US" sz="1000" dirty="0">
                <a:solidFill>
                  <a:srgbClr val="7C8797"/>
                </a:solidFill>
                <a:latin typeface="Calibri" pitchFamily="34" charset="0"/>
                <a:ea typeface="Calibri" pitchFamily="34" charset="-122"/>
                <a:cs typeface="Calibri" pitchFamily="34" charset="-120"/>
              </a:rPr>
              <a:t>2 / 6</a:t>
            </a:r>
            <a:endParaRPr lang="en-US" sz="1000" dirty="0"/>
          </a:p>
        </p:txBody>
      </p:sp>
      <p:sp>
        <p:nvSpPr>
          <p:cNvPr id="5" name="Text 3"/>
          <p:cNvSpPr/>
          <p:nvPr/>
        </p:nvSpPr>
        <p:spPr>
          <a:xfrm>
            <a:off x="658368" y="658368"/>
            <a:ext cx="9509760" cy="685800"/>
          </a:xfrm>
          <a:prstGeom prst="rect">
            <a:avLst/>
          </a:prstGeom>
          <a:noFill/>
          <a:ln/>
        </p:spPr>
        <p:txBody>
          <a:bodyPr wrap="square" lIns="0" tIns="0" rIns="0" bIns="0" rtlCol="0" anchor="t"/>
          <a:lstStyle/>
          <a:p>
            <a:pPr indent="0" marL="0">
              <a:buNone/>
            </a:pPr>
            <a:r>
              <a:rPr lang="en-US" sz="3000" b="1" dirty="0">
                <a:solidFill>
                  <a:srgbClr val="1B2436"/>
                </a:solidFill>
                <a:latin typeface="Cambria" pitchFamily="34" charset="0"/>
                <a:ea typeface="Cambria" pitchFamily="34" charset="-122"/>
                <a:cs typeface="Cambria" pitchFamily="34" charset="-120"/>
              </a:rPr>
              <a:t>Hunt positives, don’t refine the boundary</a:t>
            </a:r>
            <a:endParaRPr lang="en-US" sz="3000" dirty="0"/>
          </a:p>
        </p:txBody>
      </p:sp>
      <p:sp>
        <p:nvSpPr>
          <p:cNvPr id="6" name="Text 4"/>
          <p:cNvSpPr/>
          <p:nvPr/>
        </p:nvSpPr>
        <p:spPr>
          <a:xfrm>
            <a:off x="658368" y="1389888"/>
            <a:ext cx="10607040" cy="457200"/>
          </a:xfrm>
          <a:prstGeom prst="rect">
            <a:avLst/>
          </a:prstGeom>
          <a:noFill/>
          <a:ln/>
        </p:spPr>
        <p:txBody>
          <a:bodyPr wrap="square" lIns="0" tIns="0" rIns="0" bIns="0" rtlCol="0" anchor="t"/>
          <a:lstStyle/>
          <a:p>
            <a:pPr indent="0" marL="0">
              <a:buNone/>
            </a:pPr>
            <a:r>
              <a:rPr lang="en-US" sz="1400" dirty="0">
                <a:solidFill>
                  <a:srgbClr val="4A5568"/>
                </a:solidFill>
                <a:latin typeface="Calibri" pitchFamily="34" charset="0"/>
                <a:ea typeface="Calibri" pitchFamily="34" charset="-122"/>
                <a:cs typeface="Calibri" pitchFamily="34" charset="-120"/>
              </a:rPr>
              <a:t>Same 5,000-query budget, three acquisition rules. Textbook uncertainty sampling loses to simply asking for the most-likely positives.</a:t>
            </a:r>
            <a:endParaRPr lang="en-US" sz="1400" dirty="0"/>
          </a:p>
        </p:txBody>
      </p:sp>
      <p:sp>
        <p:nvSpPr>
          <p:cNvPr id="7" name="Text 5"/>
          <p:cNvSpPr/>
          <p:nvPr/>
        </p:nvSpPr>
        <p:spPr>
          <a:xfrm>
            <a:off x="658368" y="1920240"/>
            <a:ext cx="5486400" cy="219456"/>
          </a:xfrm>
          <a:prstGeom prst="rect">
            <a:avLst/>
          </a:prstGeom>
          <a:noFill/>
          <a:ln/>
        </p:spPr>
        <p:txBody>
          <a:bodyPr wrap="square" lIns="0" tIns="0" rIns="0" bIns="0" rtlCol="0" anchor="ctr"/>
          <a:lstStyle/>
          <a:p>
            <a:pPr indent="0" marL="0">
              <a:buNone/>
            </a:pPr>
            <a:r>
              <a:rPr lang="en-US" sz="1200" b="1" dirty="0">
                <a:solidFill>
                  <a:srgbClr val="1B2436"/>
                </a:solidFill>
                <a:latin typeface="Calibri" pitchFamily="34" charset="0"/>
                <a:ea typeface="Calibri" pitchFamily="34" charset="-122"/>
                <a:cs typeface="Calibri" pitchFamily="34" charset="-120"/>
              </a:rPr>
              <a:t>True positives bought with 5,000 queries</a:t>
            </a:r>
            <a:endParaRPr lang="en-US" sz="1200" dirty="0"/>
          </a:p>
        </p:txBody>
      </p:sp>
      <p:sp>
        <p:nvSpPr>
          <p:cNvPr id="8" name="Text 6"/>
          <p:cNvSpPr/>
          <p:nvPr/>
        </p:nvSpPr>
        <p:spPr>
          <a:xfrm>
            <a:off x="658368" y="2121408"/>
            <a:ext cx="5486400" cy="201168"/>
          </a:xfrm>
          <a:prstGeom prst="rect">
            <a:avLst/>
          </a:prstGeom>
          <a:noFill/>
          <a:ln/>
        </p:spPr>
        <p:txBody>
          <a:bodyPr wrap="square" lIns="0" tIns="0" rIns="0" bIns="0" rtlCol="0" anchor="ctr"/>
          <a:lstStyle/>
          <a:p>
            <a:pPr indent="0" marL="0">
              <a:buNone/>
            </a:pPr>
            <a:r>
              <a:rPr lang="en-US" sz="1050" dirty="0">
                <a:solidFill>
                  <a:srgbClr val="7C8797"/>
                </a:solidFill>
                <a:latin typeface="Calibri" pitchFamily="34" charset="0"/>
                <a:ea typeface="Calibri" pitchFamily="34" charset="-122"/>
                <a:cs typeface="Calibri" pitchFamily="34" charset="-120"/>
              </a:rPr>
              <a:t>Hit rate — Random 33.0% (= base rate) · Uncertainty 48.2% · Hunting 62.8%</a:t>
            </a:r>
            <a:endParaRPr lang="en-US" sz="1050" dirty="0"/>
          </a:p>
        </p:txBody>
      </p:sp>
      <p:graphicFrame>
        <p:nvGraphicFramePr>
          <p:cNvPr id="9" name="Chart 0" descr=""/>
          <p:cNvGraphicFramePr/>
          <p:nvPr/>
        </p:nvGraphicFramePr>
        <p:xfrm>
          <a:off x="548640" y="2340864"/>
          <a:ext cx="5394960" cy="29260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658368" y="5321808"/>
            <a:ext cx="5303520" cy="219456"/>
          </a:xfrm>
          <a:prstGeom prst="rect">
            <a:avLst/>
          </a:prstGeom>
          <a:noFill/>
          <a:ln/>
        </p:spPr>
        <p:txBody>
          <a:bodyPr wrap="square" lIns="0" tIns="0" rIns="0" bIns="0" rtlCol="0" anchor="ctr"/>
          <a:lstStyle/>
          <a:p>
            <a:pPr indent="0" marL="0">
              <a:buNone/>
            </a:pPr>
            <a:r>
              <a:rPr lang="en-US" sz="1050" i="1" dirty="0">
                <a:solidFill>
                  <a:srgbClr val="7C8797"/>
                </a:solidFill>
                <a:latin typeface="Calibri" pitchFamily="34" charset="0"/>
                <a:ea typeface="Calibri" pitchFamily="34" charset="-122"/>
                <a:cs typeface="Calibri" pitchFamily="34" charset="-120"/>
              </a:rPr>
              <a:t>A blind 5,000 queries returns ~1,650 — hunting nearly doubles the yield.</a:t>
            </a:r>
            <a:endParaRPr lang="en-US" sz="1050" dirty="0"/>
          </a:p>
        </p:txBody>
      </p:sp>
      <p:sp>
        <p:nvSpPr>
          <p:cNvPr id="11" name="Text 8"/>
          <p:cNvSpPr/>
          <p:nvPr/>
        </p:nvSpPr>
        <p:spPr>
          <a:xfrm>
            <a:off x="6227064" y="1920240"/>
            <a:ext cx="5303520" cy="219456"/>
          </a:xfrm>
          <a:prstGeom prst="rect">
            <a:avLst/>
          </a:prstGeom>
          <a:noFill/>
          <a:ln/>
        </p:spPr>
        <p:txBody>
          <a:bodyPr wrap="square" lIns="0" tIns="0" rIns="0" bIns="0" rtlCol="0" anchor="ctr"/>
          <a:lstStyle/>
          <a:p>
            <a:pPr indent="0" marL="0">
              <a:buNone/>
            </a:pPr>
            <a:r>
              <a:rPr lang="en-US" sz="1200" b="1" dirty="0">
                <a:solidFill>
                  <a:srgbClr val="1B2436"/>
                </a:solidFill>
                <a:latin typeface="Calibri" pitchFamily="34" charset="0"/>
                <a:ea typeface="Calibri" pitchFamily="34" charset="-122"/>
                <a:cs typeface="Calibri" pitchFamily="34" charset="-120"/>
              </a:rPr>
              <a:t>Resulting mean F1 (“Left”), seeds 1–3</a:t>
            </a:r>
            <a:endParaRPr lang="en-US" sz="1200" dirty="0"/>
          </a:p>
        </p:txBody>
      </p:sp>
      <p:sp>
        <p:nvSpPr>
          <p:cNvPr id="12" name="Text 9"/>
          <p:cNvSpPr/>
          <p:nvPr/>
        </p:nvSpPr>
        <p:spPr>
          <a:xfrm>
            <a:off x="6227064" y="2121408"/>
            <a:ext cx="5303520" cy="201168"/>
          </a:xfrm>
          <a:prstGeom prst="rect">
            <a:avLst/>
          </a:prstGeom>
          <a:noFill/>
          <a:ln/>
        </p:spPr>
        <p:txBody>
          <a:bodyPr wrap="square" lIns="0" tIns="0" rIns="0" bIns="0" rtlCol="0" anchor="ctr"/>
          <a:lstStyle/>
          <a:p>
            <a:pPr indent="0" marL="0">
              <a:buNone/>
            </a:pPr>
            <a:r>
              <a:rPr lang="en-US" sz="1050" dirty="0">
                <a:solidFill>
                  <a:srgbClr val="7C8797"/>
                </a:solidFill>
                <a:latin typeface="Calibri" pitchFamily="34" charset="0"/>
                <a:ea typeface="Calibri" pitchFamily="34" charset="-122"/>
                <a:cs typeface="Calibri" pitchFamily="34" charset="-120"/>
              </a:rPr>
              <a:t>Final model, identical 2x duplication in all three</a:t>
            </a:r>
            <a:endParaRPr lang="en-US" sz="1050" dirty="0"/>
          </a:p>
        </p:txBody>
      </p:sp>
      <p:graphicFrame>
        <p:nvGraphicFramePr>
          <p:cNvPr id="13" name="Chart 1" descr=""/>
          <p:cNvGraphicFramePr/>
          <p:nvPr/>
        </p:nvGraphicFramePr>
        <p:xfrm>
          <a:off x="6126480" y="2340864"/>
          <a:ext cx="5394960" cy="292608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6227064" y="5321808"/>
            <a:ext cx="5303520" cy="219456"/>
          </a:xfrm>
          <a:prstGeom prst="rect">
            <a:avLst/>
          </a:prstGeom>
          <a:noFill/>
          <a:ln/>
        </p:spPr>
        <p:txBody>
          <a:bodyPr wrap="square" lIns="0" tIns="0" rIns="0" bIns="0" rtlCol="0" anchor="ctr"/>
          <a:lstStyle/>
          <a:p>
            <a:pPr indent="0" marL="0">
              <a:buNone/>
            </a:pPr>
            <a:r>
              <a:rPr lang="en-US" sz="1050" b="1" dirty="0">
                <a:solidFill>
                  <a:srgbClr val="15803D"/>
                </a:solidFill>
                <a:latin typeface="Calibri" pitchFamily="34" charset="0"/>
                <a:ea typeface="Calibri" pitchFamily="34" charset="-122"/>
                <a:cs typeface="Calibri" pitchFamily="34" charset="-120"/>
              </a:rPr>
              <a:t>+0.0155</a:t>
            </a:r>
            <a:pPr indent="0" marL="0">
              <a:buNone/>
            </a:pPr>
            <a:r>
              <a:rPr lang="en-US" sz="1050" dirty="0">
                <a:solidFill>
                  <a:srgbClr val="7C8797"/>
                </a:solidFill>
                <a:latin typeface="Calibri" pitchFamily="34" charset="0"/>
                <a:ea typeface="Calibri" pitchFamily="34" charset="-122"/>
                <a:cs typeface="Calibri" pitchFamily="34" charset="-120"/>
              </a:rPr>
              <a:t> over uncertainty sampling  ·  </a:t>
            </a:r>
            <a:pPr indent="0" marL="0">
              <a:buNone/>
            </a:pPr>
            <a:r>
              <a:rPr lang="en-US" sz="1050" b="1" dirty="0">
                <a:solidFill>
                  <a:srgbClr val="15803D"/>
                </a:solidFill>
                <a:latin typeface="Calibri" pitchFamily="34" charset="0"/>
                <a:ea typeface="Calibri" pitchFamily="34" charset="-122"/>
                <a:cs typeface="Calibri" pitchFamily="34" charset="-120"/>
              </a:rPr>
              <a:t>+0.0347</a:t>
            </a:r>
            <a:pPr indent="0" marL="0">
              <a:buNone/>
            </a:pPr>
            <a:r>
              <a:rPr lang="en-US" sz="1050" dirty="0">
                <a:solidFill>
                  <a:srgbClr val="7C8797"/>
                </a:solidFill>
                <a:latin typeface="Calibri" pitchFamily="34" charset="0"/>
                <a:ea typeface="Calibri" pitchFamily="34" charset="-122"/>
                <a:cs typeface="Calibri" pitchFamily="34" charset="-120"/>
              </a:rPr>
              <a:t> over random</a:t>
            </a:r>
            <a:endParaRPr lang="en-US" sz="1050" dirty="0"/>
          </a:p>
        </p:txBody>
      </p:sp>
      <p:sp>
        <p:nvSpPr>
          <p:cNvPr id="15" name="Shape 11"/>
          <p:cNvSpPr/>
          <p:nvPr/>
        </p:nvSpPr>
        <p:spPr>
          <a:xfrm>
            <a:off x="658368" y="5760720"/>
            <a:ext cx="10872216" cy="640080"/>
          </a:xfrm>
          <a:prstGeom prst="roundRect">
            <a:avLst>
              <a:gd name="adj" fmla="val 8571"/>
            </a:avLst>
          </a:prstGeom>
          <a:solidFill>
            <a:srgbClr val="F4F6F9"/>
          </a:solidFill>
          <a:ln/>
        </p:spPr>
      </p:sp>
      <p:sp>
        <p:nvSpPr>
          <p:cNvPr id="16" name="Text 12"/>
          <p:cNvSpPr/>
          <p:nvPr/>
        </p:nvSpPr>
        <p:spPr>
          <a:xfrm>
            <a:off x="868680" y="5760720"/>
            <a:ext cx="10451592" cy="640080"/>
          </a:xfrm>
          <a:prstGeom prst="rect">
            <a:avLst/>
          </a:prstGeom>
          <a:noFill/>
          <a:ln/>
        </p:spPr>
        <p:txBody>
          <a:bodyPr wrap="square" lIns="0" tIns="0" rIns="0" bIns="0" rtlCol="0" anchor="ctr"/>
          <a:lstStyle/>
          <a:p>
            <a:pPr indent="0" marL="0">
              <a:lnSpc>
                <a:spcPct val="112000"/>
              </a:lnSpc>
              <a:buNone/>
            </a:pPr>
            <a:r>
              <a:rPr lang="en-US" sz="1250" b="1" dirty="0">
                <a:solidFill>
                  <a:srgbClr val="1B2436"/>
                </a:solidFill>
                <a:latin typeface="Calibri" pitchFamily="34" charset="0"/>
                <a:ea typeface="Calibri" pitchFamily="34" charset="-122"/>
                <a:cs typeface="Calibri" pitchFamily="34" charset="-120"/>
              </a:rPr>
              <a:t>More positives ⇒ higher F1, monotonically. </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Uncertainty sampling spends the budget near P=0.5, where labels are ambiguous but cheap to be wrong about — it buys </a:t>
            </a:r>
            <a:pPr indent="0" marL="0">
              <a:lnSpc>
                <a:spcPct val="112000"/>
              </a:lnSpc>
              <a:buNone/>
            </a:pPr>
            <a:r>
              <a:rPr lang="en-US" sz="1250" b="1" dirty="0">
                <a:solidFill>
                  <a:srgbClr val="1B2436"/>
                </a:solidFill>
                <a:latin typeface="Calibri" pitchFamily="34" charset="0"/>
                <a:ea typeface="Calibri" pitchFamily="34" charset="-122"/>
                <a:cs typeface="Calibri" pitchFamily="34" charset="-120"/>
              </a:rPr>
              <a:t>732 fewer positives</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 and loses </a:t>
            </a:r>
            <a:pPr indent="0" marL="0">
              <a:lnSpc>
                <a:spcPct val="112000"/>
              </a:lnSpc>
              <a:buNone/>
            </a:pPr>
            <a:r>
              <a:rPr lang="en-US" sz="1250" b="1" dirty="0">
                <a:solidFill>
                  <a:srgbClr val="1B2436"/>
                </a:solidFill>
                <a:latin typeface="Calibri" pitchFamily="34" charset="0"/>
                <a:ea typeface="Calibri" pitchFamily="34" charset="-122"/>
                <a:cs typeface="Calibri" pitchFamily="34" charset="-120"/>
              </a:rPr>
              <a:t>0.0155</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 F1. When the metric is minority-class F1, the classic rule is the wrong rule.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87000" y="457200"/>
            <a:ext cx="868680" cy="274320"/>
          </a:xfrm>
          <a:prstGeom prst="roundRect">
            <a:avLst>
              <a:gd name="adj" fmla="val 50000"/>
            </a:avLst>
          </a:prstGeom>
          <a:solidFill>
            <a:srgbClr val="B45309"/>
          </a:solidFill>
          <a:ln/>
        </p:spPr>
      </p:sp>
      <p:sp>
        <p:nvSpPr>
          <p:cNvPr id="3" name="Text 1"/>
          <p:cNvSpPr/>
          <p:nvPr/>
        </p:nvSpPr>
        <p:spPr>
          <a:xfrm>
            <a:off x="10287000" y="457200"/>
            <a:ext cx="868680"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LIOR</a:t>
            </a:r>
            <a:endParaRPr lang="en-US" sz="1000" dirty="0"/>
          </a:p>
        </p:txBody>
      </p:sp>
      <p:sp>
        <p:nvSpPr>
          <p:cNvPr id="4" name="Text 2"/>
          <p:cNvSpPr/>
          <p:nvPr/>
        </p:nvSpPr>
        <p:spPr>
          <a:xfrm>
            <a:off x="11265408" y="457200"/>
            <a:ext cx="466344" cy="274320"/>
          </a:xfrm>
          <a:prstGeom prst="rect">
            <a:avLst/>
          </a:prstGeom>
          <a:noFill/>
          <a:ln/>
        </p:spPr>
        <p:txBody>
          <a:bodyPr wrap="square" lIns="0" tIns="0" rIns="0" bIns="0" rtlCol="0" anchor="ctr"/>
          <a:lstStyle/>
          <a:p>
            <a:pPr algn="r" indent="0" marL="0">
              <a:buNone/>
            </a:pPr>
            <a:r>
              <a:rPr lang="en-US" sz="1000" dirty="0">
                <a:solidFill>
                  <a:srgbClr val="7C8797"/>
                </a:solidFill>
                <a:latin typeface="Calibri" pitchFamily="34" charset="0"/>
                <a:ea typeface="Calibri" pitchFamily="34" charset="-122"/>
                <a:cs typeface="Calibri" pitchFamily="34" charset="-120"/>
              </a:rPr>
              <a:t>3 / 6</a:t>
            </a:r>
            <a:endParaRPr lang="en-US" sz="1000" dirty="0"/>
          </a:p>
        </p:txBody>
      </p:sp>
      <p:sp>
        <p:nvSpPr>
          <p:cNvPr id="5" name="Text 3"/>
          <p:cNvSpPr/>
          <p:nvPr/>
        </p:nvSpPr>
        <p:spPr>
          <a:xfrm>
            <a:off x="658368" y="658368"/>
            <a:ext cx="9509760" cy="685800"/>
          </a:xfrm>
          <a:prstGeom prst="rect">
            <a:avLst/>
          </a:prstGeom>
          <a:noFill/>
          <a:ln/>
        </p:spPr>
        <p:txBody>
          <a:bodyPr wrap="square" lIns="0" tIns="0" rIns="0" bIns="0" rtlCol="0" anchor="t"/>
          <a:lstStyle/>
          <a:p>
            <a:pPr indent="0" marL="0">
              <a:buNone/>
            </a:pPr>
            <a:r>
              <a:rPr lang="en-US" sz="3000" b="1" dirty="0">
                <a:solidFill>
                  <a:srgbClr val="1B2436"/>
                </a:solidFill>
                <a:latin typeface="Cambria" pitchFamily="34" charset="0"/>
                <a:ea typeface="Cambria" pitchFamily="34" charset="-122"/>
                <a:cs typeface="Cambria" pitchFamily="34" charset="-120"/>
              </a:rPr>
              <a:t>5 rounds beat one big order</a:t>
            </a:r>
            <a:endParaRPr lang="en-US" sz="3000" dirty="0"/>
          </a:p>
        </p:txBody>
      </p:sp>
      <p:sp>
        <p:nvSpPr>
          <p:cNvPr id="6" name="Text 4"/>
          <p:cNvSpPr/>
          <p:nvPr/>
        </p:nvSpPr>
        <p:spPr>
          <a:xfrm>
            <a:off x="658368" y="1389888"/>
            <a:ext cx="10607040" cy="457200"/>
          </a:xfrm>
          <a:prstGeom prst="rect">
            <a:avLst/>
          </a:prstGeom>
          <a:noFill/>
          <a:ln/>
        </p:spPr>
        <p:txBody>
          <a:bodyPr wrap="square" lIns="0" tIns="0" rIns="0" bIns="0" rtlCol="0" anchor="t"/>
          <a:lstStyle/>
          <a:p>
            <a:pPr indent="0" marL="0">
              <a:buNone/>
            </a:pPr>
            <a:r>
              <a:rPr lang="en-US" sz="1400" dirty="0">
                <a:solidFill>
                  <a:srgbClr val="4A5568"/>
                </a:solidFill>
                <a:latin typeface="Calibri" pitchFamily="34" charset="0"/>
                <a:ea typeface="Calibri" pitchFamily="34" charset="-122"/>
                <a:cs typeface="Calibri" pitchFamily="34" charset="-120"/>
              </a:rPr>
              <a:t>Retraining the scout between rounds sharpens its ranking — but each round strips the pool of easy positives, and the yield decays toward the base rate.</a:t>
            </a:r>
            <a:endParaRPr lang="en-US" sz="1400" dirty="0"/>
          </a:p>
        </p:txBody>
      </p:sp>
      <p:sp>
        <p:nvSpPr>
          <p:cNvPr id="7" name="Text 5"/>
          <p:cNvSpPr/>
          <p:nvPr/>
        </p:nvSpPr>
        <p:spPr>
          <a:xfrm>
            <a:off x="658368" y="1920240"/>
            <a:ext cx="7680960" cy="219456"/>
          </a:xfrm>
          <a:prstGeom prst="rect">
            <a:avLst/>
          </a:prstGeom>
          <a:noFill/>
          <a:ln/>
        </p:spPr>
        <p:txBody>
          <a:bodyPr wrap="square" lIns="0" tIns="0" rIns="0" bIns="0" rtlCol="0" anchor="ctr"/>
          <a:lstStyle/>
          <a:p>
            <a:pPr indent="0" marL="0">
              <a:buNone/>
            </a:pPr>
            <a:r>
              <a:rPr lang="en-US" sz="1200" b="1" dirty="0">
                <a:solidFill>
                  <a:srgbClr val="1B2436"/>
                </a:solidFill>
                <a:latin typeface="Calibri" pitchFamily="34" charset="0"/>
                <a:ea typeface="Calibri" pitchFamily="34" charset="-122"/>
                <a:cs typeface="Calibri" pitchFamily="34" charset="-120"/>
              </a:rPr>
              <a:t>Query precision per round — the vein runs out</a:t>
            </a:r>
            <a:endParaRPr lang="en-US" sz="1200" dirty="0"/>
          </a:p>
        </p:txBody>
      </p:sp>
      <p:sp>
        <p:nvSpPr>
          <p:cNvPr id="8" name="Text 6"/>
          <p:cNvSpPr/>
          <p:nvPr/>
        </p:nvSpPr>
        <p:spPr>
          <a:xfrm>
            <a:off x="658368" y="2121408"/>
            <a:ext cx="7680960" cy="201168"/>
          </a:xfrm>
          <a:prstGeom prst="rect">
            <a:avLst/>
          </a:prstGeom>
          <a:noFill/>
          <a:ln/>
        </p:spPr>
        <p:txBody>
          <a:bodyPr wrap="square" lIns="0" tIns="0" rIns="0" bIns="0" rtlCol="0" anchor="ctr"/>
          <a:lstStyle/>
          <a:p>
            <a:pPr indent="0" marL="0">
              <a:buNone/>
            </a:pPr>
            <a:r>
              <a:rPr lang="en-US" sz="1050" dirty="0">
                <a:solidFill>
                  <a:srgbClr val="7C8797"/>
                </a:solidFill>
                <a:latin typeface="Calibri" pitchFamily="34" charset="0"/>
                <a:ea typeface="Calibri" pitchFamily="34" charset="-122"/>
                <a:cs typeface="Calibri" pitchFamily="34" charset="-120"/>
              </a:rPr>
              <a:t>Share of each 1,000-query batch that came back “Left”. Mean of seeds 1–3.</a:t>
            </a:r>
            <a:endParaRPr lang="en-US" sz="1050" dirty="0"/>
          </a:p>
        </p:txBody>
      </p:sp>
      <p:graphicFrame>
        <p:nvGraphicFramePr>
          <p:cNvPr id="9" name="Chart 0" descr=""/>
          <p:cNvGraphicFramePr/>
          <p:nvPr/>
        </p:nvGraphicFramePr>
        <p:xfrm>
          <a:off x="548640" y="2340864"/>
          <a:ext cx="7772400" cy="29260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658368" y="5321808"/>
            <a:ext cx="7680960" cy="219456"/>
          </a:xfrm>
          <a:prstGeom prst="rect">
            <a:avLst/>
          </a:prstGeom>
          <a:noFill/>
          <a:ln/>
        </p:spPr>
        <p:txBody>
          <a:bodyPr wrap="square" lIns="0" tIns="0" rIns="0" bIns="0" rtlCol="0" anchor="ctr"/>
          <a:lstStyle/>
          <a:p>
            <a:pPr indent="0" marL="0">
              <a:buNone/>
            </a:pPr>
            <a:r>
              <a:rPr lang="en-US" sz="1050" i="1" dirty="0">
                <a:solidFill>
                  <a:srgbClr val="7C8797"/>
                </a:solidFill>
                <a:latin typeface="Calibri" pitchFamily="34" charset="0"/>
                <a:ea typeface="Calibri" pitchFamily="34" charset="-122"/>
                <a:cs typeface="Calibri" pitchFamily="34" charset="-120"/>
              </a:rPr>
              <a:t>Positives bought per round: 795 · 782 · 608 · 512 · 443</a:t>
            </a:r>
            <a:endParaRPr lang="en-US" sz="1050" dirty="0"/>
          </a:p>
        </p:txBody>
      </p:sp>
      <p:sp>
        <p:nvSpPr>
          <p:cNvPr id="11" name="Shape 8"/>
          <p:cNvSpPr/>
          <p:nvPr/>
        </p:nvSpPr>
        <p:spPr>
          <a:xfrm>
            <a:off x="8549640" y="2340864"/>
            <a:ext cx="2980944" cy="1371600"/>
          </a:xfrm>
          <a:prstGeom prst="roundRect">
            <a:avLst>
              <a:gd name="adj" fmla="val 3333"/>
            </a:avLst>
          </a:prstGeom>
          <a:solidFill>
            <a:srgbClr val="F4F6F9"/>
          </a:solidFill>
          <a:ln/>
        </p:spPr>
      </p:sp>
      <p:sp>
        <p:nvSpPr>
          <p:cNvPr id="12" name="Text 9"/>
          <p:cNvSpPr/>
          <p:nvPr/>
        </p:nvSpPr>
        <p:spPr>
          <a:xfrm>
            <a:off x="8778240" y="2468880"/>
            <a:ext cx="2523744" cy="237744"/>
          </a:xfrm>
          <a:prstGeom prst="rect">
            <a:avLst/>
          </a:prstGeom>
          <a:noFill/>
          <a:ln/>
        </p:spPr>
        <p:txBody>
          <a:bodyPr wrap="square" lIns="0" tIns="0" rIns="0" bIns="0" rtlCol="0" anchor="ctr"/>
          <a:lstStyle/>
          <a:p>
            <a:pPr indent="0" marL="0">
              <a:buNone/>
            </a:pPr>
            <a:r>
              <a:rPr lang="en-US" sz="1150" b="1" dirty="0">
                <a:solidFill>
                  <a:srgbClr val="4A5568"/>
                </a:solidFill>
                <a:latin typeface="Calibri" pitchFamily="34" charset="0"/>
                <a:ea typeface="Calibri" pitchFamily="34" charset="-122"/>
                <a:cs typeface="Calibri" pitchFamily="34" charset="-120"/>
              </a:rPr>
              <a:t>Iterative — 5 x 1,000</a:t>
            </a:r>
            <a:endParaRPr lang="en-US" sz="1150" dirty="0"/>
          </a:p>
        </p:txBody>
      </p:sp>
      <p:sp>
        <p:nvSpPr>
          <p:cNvPr id="13" name="Text 10"/>
          <p:cNvSpPr/>
          <p:nvPr/>
        </p:nvSpPr>
        <p:spPr>
          <a:xfrm>
            <a:off x="8778240" y="2706624"/>
            <a:ext cx="2523744" cy="548640"/>
          </a:xfrm>
          <a:prstGeom prst="rect">
            <a:avLst/>
          </a:prstGeom>
          <a:noFill/>
          <a:ln/>
        </p:spPr>
        <p:txBody>
          <a:bodyPr wrap="square" lIns="0" tIns="0" rIns="0" bIns="0" rtlCol="0" anchor="ctr"/>
          <a:lstStyle/>
          <a:p>
            <a:pPr indent="0" marL="0">
              <a:buNone/>
            </a:pPr>
            <a:r>
              <a:rPr lang="en-US" sz="3800" b="1" dirty="0">
                <a:solidFill>
                  <a:srgbClr val="B45309"/>
                </a:solidFill>
                <a:latin typeface="Cambria" pitchFamily="34" charset="0"/>
                <a:ea typeface="Cambria" pitchFamily="34" charset="-122"/>
                <a:cs typeface="Cambria" pitchFamily="34" charset="-120"/>
              </a:rPr>
              <a:t>3,140</a:t>
            </a:r>
            <a:endParaRPr lang="en-US" sz="3800" dirty="0"/>
          </a:p>
        </p:txBody>
      </p:sp>
      <p:sp>
        <p:nvSpPr>
          <p:cNvPr id="14" name="Text 11"/>
          <p:cNvSpPr/>
          <p:nvPr/>
        </p:nvSpPr>
        <p:spPr>
          <a:xfrm>
            <a:off x="8778240" y="3236976"/>
            <a:ext cx="2523744" cy="475488"/>
          </a:xfrm>
          <a:prstGeom prst="rect">
            <a:avLst/>
          </a:prstGeom>
          <a:noFill/>
          <a:ln/>
        </p:spPr>
        <p:txBody>
          <a:bodyPr wrap="square" lIns="0" tIns="0" rIns="0" bIns="0" rtlCol="0" anchor="ctr"/>
          <a:lstStyle/>
          <a:p>
            <a:pPr indent="0" marL="0">
              <a:buNone/>
            </a:pPr>
            <a:r>
              <a:rPr lang="en-US" sz="1100" dirty="0">
                <a:solidFill>
                  <a:srgbClr val="7C8797"/>
                </a:solidFill>
                <a:latin typeface="Calibri" pitchFamily="34" charset="0"/>
                <a:ea typeface="Calibri" pitchFamily="34" charset="-122"/>
                <a:cs typeface="Calibri" pitchFamily="34" charset="-120"/>
              </a:rPr>
              <a:t>positives  ·  mean F1 0.6471</a:t>
            </a:r>
            <a:endParaRPr lang="en-US" sz="1100" dirty="0"/>
          </a:p>
        </p:txBody>
      </p:sp>
      <p:sp>
        <p:nvSpPr>
          <p:cNvPr id="15" name="Shape 12"/>
          <p:cNvSpPr/>
          <p:nvPr/>
        </p:nvSpPr>
        <p:spPr>
          <a:xfrm>
            <a:off x="8549640" y="3840480"/>
            <a:ext cx="2980944" cy="1371600"/>
          </a:xfrm>
          <a:prstGeom prst="roundRect">
            <a:avLst>
              <a:gd name="adj" fmla="val 3333"/>
            </a:avLst>
          </a:prstGeom>
          <a:solidFill>
            <a:srgbClr val="F4F6F9"/>
          </a:solidFill>
          <a:ln/>
        </p:spPr>
      </p:sp>
      <p:sp>
        <p:nvSpPr>
          <p:cNvPr id="16" name="Text 13"/>
          <p:cNvSpPr/>
          <p:nvPr/>
        </p:nvSpPr>
        <p:spPr>
          <a:xfrm>
            <a:off x="8778240" y="3968496"/>
            <a:ext cx="2523744" cy="237744"/>
          </a:xfrm>
          <a:prstGeom prst="rect">
            <a:avLst/>
          </a:prstGeom>
          <a:noFill/>
          <a:ln/>
        </p:spPr>
        <p:txBody>
          <a:bodyPr wrap="square" lIns="0" tIns="0" rIns="0" bIns="0" rtlCol="0" anchor="ctr"/>
          <a:lstStyle/>
          <a:p>
            <a:pPr indent="0" marL="0">
              <a:buNone/>
            </a:pPr>
            <a:r>
              <a:rPr lang="en-US" sz="1150" b="1" dirty="0">
                <a:solidFill>
                  <a:srgbClr val="4A5568"/>
                </a:solidFill>
                <a:latin typeface="Calibri" pitchFamily="34" charset="0"/>
                <a:ea typeface="Calibri" pitchFamily="34" charset="-122"/>
                <a:cs typeface="Calibri" pitchFamily="34" charset="-120"/>
              </a:rPr>
              <a:t>One-shot — 1 x 5,000</a:t>
            </a:r>
            <a:endParaRPr lang="en-US" sz="1150" dirty="0"/>
          </a:p>
        </p:txBody>
      </p:sp>
      <p:sp>
        <p:nvSpPr>
          <p:cNvPr id="17" name="Text 14"/>
          <p:cNvSpPr/>
          <p:nvPr/>
        </p:nvSpPr>
        <p:spPr>
          <a:xfrm>
            <a:off x="8778240" y="4206240"/>
            <a:ext cx="2523744" cy="548640"/>
          </a:xfrm>
          <a:prstGeom prst="rect">
            <a:avLst/>
          </a:prstGeom>
          <a:noFill/>
          <a:ln/>
        </p:spPr>
        <p:txBody>
          <a:bodyPr wrap="square" lIns="0" tIns="0" rIns="0" bIns="0" rtlCol="0" anchor="ctr"/>
          <a:lstStyle/>
          <a:p>
            <a:pPr indent="0" marL="0">
              <a:buNone/>
            </a:pPr>
            <a:r>
              <a:rPr lang="en-US" sz="3800" b="1" dirty="0">
                <a:solidFill>
                  <a:srgbClr val="7C8797"/>
                </a:solidFill>
                <a:latin typeface="Cambria" pitchFamily="34" charset="0"/>
                <a:ea typeface="Cambria" pitchFamily="34" charset="-122"/>
                <a:cs typeface="Cambria" pitchFamily="34" charset="-120"/>
              </a:rPr>
              <a:t>2,900</a:t>
            </a:r>
            <a:endParaRPr lang="en-US" sz="3800" dirty="0"/>
          </a:p>
        </p:txBody>
      </p:sp>
      <p:sp>
        <p:nvSpPr>
          <p:cNvPr id="18" name="Text 15"/>
          <p:cNvSpPr/>
          <p:nvPr/>
        </p:nvSpPr>
        <p:spPr>
          <a:xfrm>
            <a:off x="8778240" y="4736592"/>
            <a:ext cx="2523744" cy="402336"/>
          </a:xfrm>
          <a:prstGeom prst="rect">
            <a:avLst/>
          </a:prstGeom>
          <a:noFill/>
          <a:ln/>
        </p:spPr>
        <p:txBody>
          <a:bodyPr wrap="square" lIns="0" tIns="0" rIns="0" bIns="0" rtlCol="0" anchor="ctr"/>
          <a:lstStyle/>
          <a:p>
            <a:pPr indent="0" marL="0">
              <a:buNone/>
            </a:pPr>
            <a:r>
              <a:rPr lang="en-US" sz="1100" dirty="0">
                <a:solidFill>
                  <a:srgbClr val="7C8797"/>
                </a:solidFill>
                <a:latin typeface="Calibri" pitchFamily="34" charset="0"/>
                <a:ea typeface="Calibri" pitchFamily="34" charset="-122"/>
                <a:cs typeface="Calibri" pitchFamily="34" charset="-120"/>
              </a:rPr>
              <a:t>positives  ·  mean F1 0.6408</a:t>
            </a:r>
            <a:endParaRPr lang="en-US" sz="1100" dirty="0"/>
          </a:p>
        </p:txBody>
      </p:sp>
      <p:sp>
        <p:nvSpPr>
          <p:cNvPr id="19" name="Text 16"/>
          <p:cNvSpPr/>
          <p:nvPr/>
        </p:nvSpPr>
        <p:spPr>
          <a:xfrm>
            <a:off x="8549640" y="5248656"/>
            <a:ext cx="2980944" cy="475488"/>
          </a:xfrm>
          <a:prstGeom prst="rect">
            <a:avLst/>
          </a:prstGeom>
          <a:noFill/>
          <a:ln/>
        </p:spPr>
        <p:txBody>
          <a:bodyPr wrap="square" lIns="0" tIns="0" rIns="0" bIns="0" rtlCol="0" anchor="ctr"/>
          <a:lstStyle/>
          <a:p>
            <a:pPr indent="0" marL="0">
              <a:lnSpc>
                <a:spcPct val="112000"/>
              </a:lnSpc>
              <a:buNone/>
            </a:pPr>
            <a:r>
              <a:rPr lang="en-US" sz="1250" b="1" dirty="0">
                <a:solidFill>
                  <a:srgbClr val="15803D"/>
                </a:solidFill>
                <a:latin typeface="Calibri" pitchFamily="34" charset="0"/>
                <a:ea typeface="Calibri" pitchFamily="34" charset="-122"/>
                <a:cs typeface="Calibri" pitchFamily="34" charset="-120"/>
              </a:rPr>
              <a:t>+240 positives (+8.3%)  ·  +0.0063 F1
</a:t>
            </a:r>
            <a:pPr indent="0" marL="0">
              <a:lnSpc>
                <a:spcPct val="112000"/>
              </a:lnSpc>
              <a:buNone/>
            </a:pPr>
            <a:r>
              <a:rPr lang="en-US" sz="1050" dirty="0">
                <a:solidFill>
                  <a:srgbClr val="4A5568"/>
                </a:solidFill>
                <a:latin typeface="Calibri" pitchFamily="34" charset="0"/>
                <a:ea typeface="Calibri" pitchFamily="34" charset="-122"/>
                <a:cs typeface="Calibri" pitchFamily="34" charset="-120"/>
              </a:rPr>
              <a:t>Same budget. Only the feedback differs.</a:t>
            </a:r>
            <a:endParaRPr lang="en-US" sz="1250" dirty="0"/>
          </a:p>
        </p:txBody>
      </p:sp>
      <p:sp>
        <p:nvSpPr>
          <p:cNvPr id="20" name="Shape 17"/>
          <p:cNvSpPr/>
          <p:nvPr/>
        </p:nvSpPr>
        <p:spPr>
          <a:xfrm>
            <a:off x="658368" y="5760720"/>
            <a:ext cx="10872216" cy="640080"/>
          </a:xfrm>
          <a:prstGeom prst="roundRect">
            <a:avLst>
              <a:gd name="adj" fmla="val 8571"/>
            </a:avLst>
          </a:prstGeom>
          <a:solidFill>
            <a:srgbClr val="F4F6F9"/>
          </a:solidFill>
          <a:ln/>
        </p:spPr>
      </p:sp>
      <p:sp>
        <p:nvSpPr>
          <p:cNvPr id="21" name="Text 18"/>
          <p:cNvSpPr/>
          <p:nvPr/>
        </p:nvSpPr>
        <p:spPr>
          <a:xfrm>
            <a:off x="868680" y="5760720"/>
            <a:ext cx="10451592" cy="640080"/>
          </a:xfrm>
          <a:prstGeom prst="rect">
            <a:avLst/>
          </a:prstGeom>
          <a:noFill/>
          <a:ln/>
        </p:spPr>
        <p:txBody>
          <a:bodyPr wrap="square" lIns="0" tIns="0" rIns="0" bIns="0" rtlCol="0" anchor="ctr"/>
          <a:lstStyle/>
          <a:p>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The first scout sees only 500 labels, so its ranking is noisy; each round it learns from hundreds more positives and ranks better — worth </a:t>
            </a:r>
            <a:pPr indent="0" marL="0">
              <a:lnSpc>
                <a:spcPct val="112000"/>
              </a:lnSpc>
              <a:buNone/>
            </a:pPr>
            <a:r>
              <a:rPr lang="en-US" sz="1250" b="1" dirty="0">
                <a:solidFill>
                  <a:srgbClr val="1B2436"/>
                </a:solidFill>
                <a:latin typeface="Calibri" pitchFamily="34" charset="0"/>
                <a:ea typeface="Calibri" pitchFamily="34" charset="-122"/>
                <a:cs typeface="Calibri" pitchFamily="34" charset="-120"/>
              </a:rPr>
              <a:t>+240 positives for free</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 But precision falling 79.5% → 44.3% is also the </a:t>
            </a:r>
            <a:pPr indent="0" marL="0">
              <a:lnSpc>
                <a:spcPct val="112000"/>
              </a:lnSpc>
              <a:buNone/>
            </a:pPr>
            <a:r>
              <a:rPr lang="en-US" sz="1250" b="1" dirty="0">
                <a:solidFill>
                  <a:srgbClr val="1B2436"/>
                </a:solidFill>
                <a:latin typeface="Calibri" pitchFamily="34" charset="0"/>
                <a:ea typeface="Calibri" pitchFamily="34" charset="-122"/>
                <a:cs typeface="Calibri" pitchFamily="34" charset="-120"/>
              </a:rPr>
              <a:t>warning</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 by round 5 we are nearly guessing, which is why more budget would not save us.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87000" y="457200"/>
            <a:ext cx="868680" cy="274320"/>
          </a:xfrm>
          <a:prstGeom prst="roundRect">
            <a:avLst>
              <a:gd name="adj" fmla="val 50000"/>
            </a:avLst>
          </a:prstGeom>
          <a:solidFill>
            <a:srgbClr val="B45309"/>
          </a:solidFill>
          <a:ln/>
        </p:spPr>
      </p:sp>
      <p:sp>
        <p:nvSpPr>
          <p:cNvPr id="3" name="Text 1"/>
          <p:cNvSpPr/>
          <p:nvPr/>
        </p:nvSpPr>
        <p:spPr>
          <a:xfrm>
            <a:off x="10287000" y="457200"/>
            <a:ext cx="868680"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LIOR</a:t>
            </a:r>
            <a:endParaRPr lang="en-US" sz="1000" dirty="0"/>
          </a:p>
        </p:txBody>
      </p:sp>
      <p:sp>
        <p:nvSpPr>
          <p:cNvPr id="4" name="Text 2"/>
          <p:cNvSpPr/>
          <p:nvPr/>
        </p:nvSpPr>
        <p:spPr>
          <a:xfrm>
            <a:off x="11265408" y="457200"/>
            <a:ext cx="466344" cy="274320"/>
          </a:xfrm>
          <a:prstGeom prst="rect">
            <a:avLst/>
          </a:prstGeom>
          <a:noFill/>
          <a:ln/>
        </p:spPr>
        <p:txBody>
          <a:bodyPr wrap="square" lIns="0" tIns="0" rIns="0" bIns="0" rtlCol="0" anchor="ctr"/>
          <a:lstStyle/>
          <a:p>
            <a:pPr algn="r" indent="0" marL="0">
              <a:buNone/>
            </a:pPr>
            <a:r>
              <a:rPr lang="en-US" sz="1000" dirty="0">
                <a:solidFill>
                  <a:srgbClr val="7C8797"/>
                </a:solidFill>
                <a:latin typeface="Calibri" pitchFamily="34" charset="0"/>
                <a:ea typeface="Calibri" pitchFamily="34" charset="-122"/>
                <a:cs typeface="Calibri" pitchFamily="34" charset="-120"/>
              </a:rPr>
              <a:t>4 / 6</a:t>
            </a:r>
            <a:endParaRPr lang="en-US" sz="1000" dirty="0"/>
          </a:p>
        </p:txBody>
      </p:sp>
      <p:sp>
        <p:nvSpPr>
          <p:cNvPr id="5" name="Text 3"/>
          <p:cNvSpPr/>
          <p:nvPr/>
        </p:nvSpPr>
        <p:spPr>
          <a:xfrm>
            <a:off x="658368" y="658368"/>
            <a:ext cx="9509760" cy="685800"/>
          </a:xfrm>
          <a:prstGeom prst="rect">
            <a:avLst/>
          </a:prstGeom>
          <a:noFill/>
          <a:ln/>
        </p:spPr>
        <p:txBody>
          <a:bodyPr wrap="square" lIns="0" tIns="0" rIns="0" bIns="0" rtlCol="0" anchor="t"/>
          <a:lstStyle/>
          <a:p>
            <a:pPr indent="0" marL="0">
              <a:buNone/>
            </a:pPr>
            <a:r>
              <a:rPr lang="en-US" sz="3000" b="1" dirty="0">
                <a:solidFill>
                  <a:srgbClr val="1B2436"/>
                </a:solidFill>
                <a:latin typeface="Cambria" pitchFamily="34" charset="0"/>
                <a:ea typeface="Cambria" pitchFamily="34" charset="-122"/>
                <a:cs typeface="Cambria" pitchFamily="34" charset="-120"/>
              </a:rPr>
              <a:t>The threshold is frozen — so move the data</a:t>
            </a:r>
            <a:endParaRPr lang="en-US" sz="3000" dirty="0"/>
          </a:p>
        </p:txBody>
      </p:sp>
      <p:sp>
        <p:nvSpPr>
          <p:cNvPr id="6" name="Text 4"/>
          <p:cNvSpPr/>
          <p:nvPr/>
        </p:nvSpPr>
        <p:spPr>
          <a:xfrm>
            <a:off x="658368" y="1389888"/>
            <a:ext cx="10607040" cy="457200"/>
          </a:xfrm>
          <a:prstGeom prst="rect">
            <a:avLst/>
          </a:prstGeom>
          <a:noFill/>
          <a:ln/>
        </p:spPr>
        <p:txBody>
          <a:bodyPr wrap="square" lIns="0" tIns="0" rIns="0" bIns="0" rtlCol="0" anchor="t"/>
          <a:lstStyle/>
          <a:p>
            <a:pPr indent="0" marL="0">
              <a:buNone/>
            </a:pPr>
            <a:r>
              <a:rPr lang="en-US" sz="1400" dirty="0">
                <a:solidFill>
                  <a:srgbClr val="4A5568"/>
                </a:solidFill>
                <a:latin typeface="Calibri" pitchFamily="34" charset="0"/>
                <a:ea typeface="Calibri" pitchFamily="34" charset="-122"/>
                <a:cs typeface="Calibri" pitchFamily="34" charset="-120"/>
              </a:rPr>
              <a:t>Duplicating each known positive shifts the forest’s vote share toward “Left”. It is the only recall lever we are allowed to pull.</a:t>
            </a:r>
            <a:endParaRPr lang="en-US" sz="1400" dirty="0"/>
          </a:p>
        </p:txBody>
      </p:sp>
      <p:sp>
        <p:nvSpPr>
          <p:cNvPr id="7" name="Text 5"/>
          <p:cNvSpPr/>
          <p:nvPr/>
        </p:nvSpPr>
        <p:spPr>
          <a:xfrm>
            <a:off x="658368" y="1920240"/>
            <a:ext cx="7772400" cy="219456"/>
          </a:xfrm>
          <a:prstGeom prst="rect">
            <a:avLst/>
          </a:prstGeom>
          <a:noFill/>
          <a:ln/>
        </p:spPr>
        <p:txBody>
          <a:bodyPr wrap="square" lIns="0" tIns="0" rIns="0" bIns="0" rtlCol="0" anchor="ctr"/>
          <a:lstStyle/>
          <a:p>
            <a:pPr indent="0" marL="0">
              <a:buNone/>
            </a:pPr>
            <a:r>
              <a:rPr lang="en-US" sz="1200" b="1" dirty="0">
                <a:solidFill>
                  <a:srgbClr val="1B2436"/>
                </a:solidFill>
                <a:latin typeface="Calibri" pitchFamily="34" charset="0"/>
                <a:ea typeface="Calibri" pitchFamily="34" charset="-122"/>
                <a:cs typeface="Calibri" pitchFamily="34" charset="-120"/>
              </a:rPr>
              <a:t>Mean F1 vs positive-duplication ratio — seeds 1–3</a:t>
            </a:r>
            <a:endParaRPr lang="en-US" sz="1200" dirty="0"/>
          </a:p>
        </p:txBody>
      </p:sp>
      <p:sp>
        <p:nvSpPr>
          <p:cNvPr id="8" name="Text 6"/>
          <p:cNvSpPr/>
          <p:nvPr/>
        </p:nvSpPr>
        <p:spPr>
          <a:xfrm>
            <a:off x="658368" y="2121408"/>
            <a:ext cx="7772400" cy="201168"/>
          </a:xfrm>
          <a:prstGeom prst="rect">
            <a:avLst/>
          </a:prstGeom>
          <a:noFill/>
          <a:ln/>
        </p:spPr>
        <p:txBody>
          <a:bodyPr wrap="square" lIns="0" tIns="0" rIns="0" bIns="0" rtlCol="0" anchor="ctr"/>
          <a:lstStyle/>
          <a:p>
            <a:pPr indent="0" marL="0">
              <a:buNone/>
            </a:pPr>
            <a:r>
              <a:rPr lang="en-US" sz="1050" dirty="0">
                <a:solidFill>
                  <a:srgbClr val="7C8797"/>
                </a:solidFill>
                <a:latin typeface="Calibri" pitchFamily="34" charset="0"/>
                <a:ea typeface="Calibri" pitchFamily="34" charset="-122"/>
                <a:cs typeface="Calibri" pitchFamily="34" charset="-120"/>
              </a:rPr>
              <a:t>Identical labeled set at every point; only the final training composition changes.</a:t>
            </a:r>
            <a:endParaRPr lang="en-US" sz="1050" dirty="0"/>
          </a:p>
        </p:txBody>
      </p:sp>
      <p:graphicFrame>
        <p:nvGraphicFramePr>
          <p:cNvPr id="9" name="Chart 0" descr=""/>
          <p:cNvGraphicFramePr/>
          <p:nvPr/>
        </p:nvGraphicFramePr>
        <p:xfrm>
          <a:off x="548640" y="2340864"/>
          <a:ext cx="7863840" cy="32004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641080" y="2340864"/>
            <a:ext cx="2889504" cy="1481328"/>
          </a:xfrm>
          <a:prstGeom prst="roundRect">
            <a:avLst>
              <a:gd name="adj" fmla="val 3086"/>
            </a:avLst>
          </a:prstGeom>
          <a:solidFill>
            <a:srgbClr val="F4F6F9"/>
          </a:solidFill>
          <a:ln/>
        </p:spPr>
      </p:sp>
      <p:sp>
        <p:nvSpPr>
          <p:cNvPr id="11" name="Text 8"/>
          <p:cNvSpPr/>
          <p:nvPr/>
        </p:nvSpPr>
        <p:spPr>
          <a:xfrm>
            <a:off x="8869680" y="2505456"/>
            <a:ext cx="2432304" cy="548640"/>
          </a:xfrm>
          <a:prstGeom prst="rect">
            <a:avLst/>
          </a:prstGeom>
          <a:noFill/>
          <a:ln/>
        </p:spPr>
        <p:txBody>
          <a:bodyPr wrap="square" lIns="0" tIns="0" rIns="0" bIns="0" rtlCol="0" anchor="ctr"/>
          <a:lstStyle/>
          <a:p>
            <a:pPr indent="0" marL="0">
              <a:buNone/>
            </a:pPr>
            <a:r>
              <a:rPr lang="en-US" sz="3800" b="1" dirty="0">
                <a:solidFill>
                  <a:srgbClr val="B45309"/>
                </a:solidFill>
                <a:latin typeface="Cambria" pitchFamily="34" charset="0"/>
                <a:ea typeface="Cambria" pitchFamily="34" charset="-122"/>
                <a:cs typeface="Cambria" pitchFamily="34" charset="-120"/>
              </a:rPr>
              <a:t>+0.0178</a:t>
            </a:r>
            <a:endParaRPr lang="en-US" sz="3800" dirty="0"/>
          </a:p>
        </p:txBody>
      </p:sp>
      <p:sp>
        <p:nvSpPr>
          <p:cNvPr id="12" name="Text 9"/>
          <p:cNvSpPr/>
          <p:nvPr/>
        </p:nvSpPr>
        <p:spPr>
          <a:xfrm>
            <a:off x="8869680" y="3035808"/>
            <a:ext cx="2432304" cy="475488"/>
          </a:xfrm>
          <a:prstGeom prst="rect">
            <a:avLst/>
          </a:prstGeom>
          <a:noFill/>
          <a:ln/>
        </p:spPr>
        <p:txBody>
          <a:bodyPr wrap="square" lIns="0" tIns="0" rIns="0" bIns="0" rtlCol="0" anchor="ctr"/>
          <a:lstStyle/>
          <a:p>
            <a:pPr indent="0" marL="0">
              <a:buNone/>
            </a:pPr>
            <a:r>
              <a:rPr lang="en-US" sz="1100" dirty="0">
                <a:solidFill>
                  <a:srgbClr val="7C8797"/>
                </a:solidFill>
                <a:latin typeface="Calibri" pitchFamily="34" charset="0"/>
                <a:ea typeface="Calibri" pitchFamily="34" charset="-122"/>
                <a:cs typeface="Calibri" pitchFamily="34" charset="-120"/>
              </a:rPr>
              <a:t>1x → 2x — the biggest single win in the project</a:t>
            </a:r>
            <a:endParaRPr lang="en-US" sz="1100" dirty="0"/>
          </a:p>
        </p:txBody>
      </p:sp>
      <p:sp>
        <p:nvSpPr>
          <p:cNvPr id="13" name="Text 10"/>
          <p:cNvSpPr/>
          <p:nvPr/>
        </p:nvSpPr>
        <p:spPr>
          <a:xfrm>
            <a:off x="8641080" y="4023360"/>
            <a:ext cx="2889504" cy="1417320"/>
          </a:xfrm>
          <a:prstGeom prst="rect">
            <a:avLst/>
          </a:prstGeom>
          <a:noFill/>
          <a:ln/>
        </p:spPr>
        <p:txBody>
          <a:bodyPr wrap="square" lIns="0" tIns="0" rIns="0" bIns="0" rtlCol="0" anchor="ctr"/>
          <a:lstStyle/>
          <a:p>
            <a:pPr indent="0" marL="0">
              <a:lnSpc>
                <a:spcPct val="118000"/>
              </a:lnSpc>
              <a:buNone/>
            </a:pPr>
            <a:r>
              <a:rPr lang="en-US" sz="1300" b="1" dirty="0">
                <a:solidFill>
                  <a:srgbClr val="1B2436"/>
                </a:solidFill>
                <a:latin typeface="Calibri" pitchFamily="34" charset="0"/>
                <a:ea typeface="Calibri" pitchFamily="34" charset="-122"/>
                <a:cs typeface="Calibri" pitchFamily="34" charset="-120"/>
              </a:rPr>
              <a:t>…but 2x vs 3x = 0.0006
</a:t>
            </a:r>
            <a:pPr indent="0" marL="0">
              <a:lnSpc>
                <a:spcPct val="118000"/>
              </a:lnSpc>
              <a:buNone/>
            </a:pPr>
            <a:r>
              <a:rPr lang="en-US" sz="1150" dirty="0">
                <a:solidFill>
                  <a:srgbClr val="4A5568"/>
                </a:solidFill>
                <a:latin typeface="Calibri" pitchFamily="34" charset="0"/>
                <a:ea typeface="Calibri" pitchFamily="34" charset="-122"/>
                <a:cs typeface="Calibri" pitchFamily="34" charset="-120"/>
              </a:rPr>
              <a:t>Our noise floor is ±0.005, from training row order alone. The dip at 2.25–2.5x is larger than the gap between the two best points. That is a noise pattern, not a peak.</a:t>
            </a:r>
            <a:endParaRPr lang="en-US" sz="1300" dirty="0"/>
          </a:p>
        </p:txBody>
      </p:sp>
      <p:sp>
        <p:nvSpPr>
          <p:cNvPr id="14" name="Text 11"/>
          <p:cNvSpPr/>
          <p:nvPr/>
        </p:nvSpPr>
        <p:spPr>
          <a:xfrm>
            <a:off x="8641080" y="5486400"/>
            <a:ext cx="2889504" cy="219456"/>
          </a:xfrm>
          <a:prstGeom prst="rect">
            <a:avLst/>
          </a:prstGeom>
          <a:noFill/>
          <a:ln/>
        </p:spPr>
        <p:txBody>
          <a:bodyPr wrap="square" lIns="0" tIns="0" rIns="0" bIns="0" rtlCol="0" anchor="ctr"/>
          <a:lstStyle/>
          <a:p>
            <a:pPr indent="0" marL="0">
              <a:buNone/>
            </a:pPr>
            <a:r>
              <a:rPr lang="en-US" sz="1050" dirty="0">
                <a:solidFill>
                  <a:srgbClr val="7C8797"/>
                </a:solidFill>
                <a:latin typeface="Calibri" pitchFamily="34" charset="0"/>
                <a:ea typeface="Calibri" pitchFamily="34" charset="-122"/>
                <a:cs typeface="Calibri" pitchFamily="34" charset="-120"/>
              </a:rPr>
              <a:t>At 2x — precision 0.584  ·  recall 0.725</a:t>
            </a:r>
            <a:endParaRPr lang="en-US" sz="1050" dirty="0"/>
          </a:p>
        </p:txBody>
      </p:sp>
      <p:sp>
        <p:nvSpPr>
          <p:cNvPr id="15" name="Shape 12"/>
          <p:cNvSpPr/>
          <p:nvPr/>
        </p:nvSpPr>
        <p:spPr>
          <a:xfrm>
            <a:off x="658368" y="5760720"/>
            <a:ext cx="10872216" cy="640080"/>
          </a:xfrm>
          <a:prstGeom prst="roundRect">
            <a:avLst>
              <a:gd name="adj" fmla="val 8571"/>
            </a:avLst>
          </a:prstGeom>
          <a:solidFill>
            <a:srgbClr val="F4F6F9"/>
          </a:solidFill>
          <a:ln/>
        </p:spPr>
      </p:sp>
      <p:sp>
        <p:nvSpPr>
          <p:cNvPr id="16" name="Text 13"/>
          <p:cNvSpPr/>
          <p:nvPr/>
        </p:nvSpPr>
        <p:spPr>
          <a:xfrm>
            <a:off x="868680" y="5760720"/>
            <a:ext cx="10451592" cy="640080"/>
          </a:xfrm>
          <a:prstGeom prst="rect">
            <a:avLst/>
          </a:prstGeom>
          <a:noFill/>
          <a:ln/>
        </p:spPr>
        <p:txBody>
          <a:bodyPr wrap="square" lIns="0" tIns="0" rIns="0" bIns="0" rtlCol="0" anchor="ctr"/>
          <a:lstStyle/>
          <a:p>
            <a:pPr indent="0" marL="0">
              <a:lnSpc>
                <a:spcPct val="112000"/>
              </a:lnSpc>
              <a:buNone/>
            </a:pPr>
            <a:r>
              <a:rPr lang="en-US" sz="1250" b="1" dirty="0">
                <a:solidFill>
                  <a:srgbClr val="1B2436"/>
                </a:solidFill>
                <a:latin typeface="Calibri" pitchFamily="34" charset="0"/>
                <a:ea typeface="Calibri" pitchFamily="34" charset="-122"/>
                <a:cs typeface="Calibri" pitchFamily="34" charset="-120"/>
              </a:rPr>
              <a:t>Honest reading: </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the 1x → 2x jump (+0.0178) is 3½× the noise floor — real. But 2x and 3x differ by 0.0006, so we claim only what the data supports: </a:t>
            </a:r>
            <a:pPr indent="0" marL="0">
              <a:lnSpc>
                <a:spcPct val="112000"/>
              </a:lnSpc>
              <a:buNone/>
            </a:pPr>
            <a:r>
              <a:rPr lang="en-US" sz="1250" b="1" i="1" dirty="0">
                <a:solidFill>
                  <a:srgbClr val="1B2436"/>
                </a:solidFill>
                <a:latin typeface="Calibri" pitchFamily="34" charset="0"/>
                <a:ea typeface="Calibri" pitchFamily="34" charset="-122"/>
                <a:cs typeface="Calibri" pitchFamily="34" charset="-120"/>
              </a:rPr>
              <a:t>duplication matters; the exact ratio in [2, 3] does not.</a:t>
            </a:r>
            <a:pPr indent="0" marL="0">
              <a:lnSpc>
                <a:spcPct val="112000"/>
              </a:lnSpc>
              <a:buNone/>
            </a:pPr>
            <a:r>
              <a:rPr lang="en-US" sz="1250" dirty="0">
                <a:solidFill>
                  <a:srgbClr val="1B2436"/>
                </a:solidFill>
                <a:latin typeface="Calibri" pitchFamily="34" charset="0"/>
                <a:ea typeface="Calibri" pitchFamily="34" charset="-122"/>
                <a:cs typeface="Calibri" pitchFamily="34" charset="-120"/>
              </a:rPr>
              <a:t> We picked 2x as the flat, robust centre — not because 0.6471 “won”.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87000" y="457200"/>
            <a:ext cx="868680" cy="274320"/>
          </a:xfrm>
          <a:prstGeom prst="roundRect">
            <a:avLst>
              <a:gd name="adj" fmla="val 50000"/>
            </a:avLst>
          </a:prstGeom>
          <a:solidFill>
            <a:srgbClr val="B45309"/>
          </a:solidFill>
          <a:ln/>
        </p:spPr>
      </p:sp>
      <p:sp>
        <p:nvSpPr>
          <p:cNvPr id="3" name="Text 1"/>
          <p:cNvSpPr/>
          <p:nvPr/>
        </p:nvSpPr>
        <p:spPr>
          <a:xfrm>
            <a:off x="10287000" y="457200"/>
            <a:ext cx="868680"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RAZ</a:t>
            </a:r>
            <a:endParaRPr lang="en-US" sz="1000" dirty="0"/>
          </a:p>
        </p:txBody>
      </p:sp>
      <p:sp>
        <p:nvSpPr>
          <p:cNvPr id="4" name="Text 2"/>
          <p:cNvSpPr/>
          <p:nvPr/>
        </p:nvSpPr>
        <p:spPr>
          <a:xfrm>
            <a:off x="11265408" y="457200"/>
            <a:ext cx="466344" cy="274320"/>
          </a:xfrm>
          <a:prstGeom prst="rect">
            <a:avLst/>
          </a:prstGeom>
          <a:noFill/>
          <a:ln/>
        </p:spPr>
        <p:txBody>
          <a:bodyPr wrap="square" lIns="0" tIns="0" rIns="0" bIns="0" rtlCol="0" anchor="ctr"/>
          <a:lstStyle/>
          <a:p>
            <a:pPr algn="r" indent="0" marL="0">
              <a:buNone/>
            </a:pPr>
            <a:r>
              <a:rPr lang="en-US" sz="1000" dirty="0">
                <a:solidFill>
                  <a:srgbClr val="7C8797"/>
                </a:solidFill>
                <a:latin typeface="Calibri" pitchFamily="34" charset="0"/>
                <a:ea typeface="Calibri" pitchFamily="34" charset="-122"/>
                <a:cs typeface="Calibri" pitchFamily="34" charset="-120"/>
              </a:rPr>
              <a:t>5 / 6</a:t>
            </a:r>
            <a:endParaRPr lang="en-US" sz="1000" dirty="0"/>
          </a:p>
        </p:txBody>
      </p:sp>
      <p:sp>
        <p:nvSpPr>
          <p:cNvPr id="5" name="Text 3"/>
          <p:cNvSpPr/>
          <p:nvPr/>
        </p:nvSpPr>
        <p:spPr>
          <a:xfrm>
            <a:off x="658368" y="658368"/>
            <a:ext cx="9509760" cy="685800"/>
          </a:xfrm>
          <a:prstGeom prst="rect">
            <a:avLst/>
          </a:prstGeom>
          <a:noFill/>
          <a:ln/>
        </p:spPr>
        <p:txBody>
          <a:bodyPr wrap="square" lIns="0" tIns="0" rIns="0" bIns="0" rtlCol="0" anchor="t"/>
          <a:lstStyle/>
          <a:p>
            <a:pPr indent="0" marL="0">
              <a:buNone/>
            </a:pPr>
            <a:r>
              <a:rPr lang="en-US" sz="3000" b="1" dirty="0">
                <a:solidFill>
                  <a:srgbClr val="1B2436"/>
                </a:solidFill>
                <a:latin typeface="Cambria" pitchFamily="34" charset="0"/>
                <a:ea typeface="Cambria" pitchFamily="34" charset="-122"/>
                <a:cs typeface="Cambria" pitchFamily="34" charset="-120"/>
              </a:rPr>
              <a:t>32 configurations tried. None survived.</a:t>
            </a:r>
            <a:endParaRPr lang="en-US" sz="3000" dirty="0"/>
          </a:p>
        </p:txBody>
      </p:sp>
      <p:sp>
        <p:nvSpPr>
          <p:cNvPr id="6" name="Text 4"/>
          <p:cNvSpPr/>
          <p:nvPr/>
        </p:nvSpPr>
        <p:spPr>
          <a:xfrm>
            <a:off x="658368" y="1389888"/>
            <a:ext cx="10607040" cy="457200"/>
          </a:xfrm>
          <a:prstGeom prst="rect">
            <a:avLst/>
          </a:prstGeom>
          <a:noFill/>
          <a:ln/>
        </p:spPr>
        <p:txBody>
          <a:bodyPr wrap="square" lIns="0" tIns="0" rIns="0" bIns="0" rtlCol="0" anchor="t"/>
          <a:lstStyle/>
          <a:p>
            <a:pPr indent="0" marL="0">
              <a:buNone/>
            </a:pPr>
            <a:r>
              <a:rPr lang="en-US" sz="1400" dirty="0">
                <a:solidFill>
                  <a:srgbClr val="4A5568"/>
                </a:solidFill>
                <a:latin typeface="Calibri" pitchFamily="34" charset="0"/>
                <a:ea typeface="Calibri" pitchFamily="34" charset="-122"/>
                <a:cs typeface="Calibri" pitchFamily="34" charset="-120"/>
              </a:rPr>
              <a:t>We pre-declared a +0.005 acceptance threshold — the measured noise floor — and held every idea to it. That is why strategy.py is still the simple one.</a:t>
            </a:r>
            <a:endParaRPr lang="en-US" sz="1400" dirty="0"/>
          </a:p>
        </p:txBody>
      </p:sp>
      <p:sp>
        <p:nvSpPr>
          <p:cNvPr id="7" name="Text 5"/>
          <p:cNvSpPr/>
          <p:nvPr/>
        </p:nvSpPr>
        <p:spPr>
          <a:xfrm>
            <a:off x="658368" y="1920240"/>
            <a:ext cx="7223760" cy="219456"/>
          </a:xfrm>
          <a:prstGeom prst="rect">
            <a:avLst/>
          </a:prstGeom>
          <a:noFill/>
          <a:ln/>
        </p:spPr>
        <p:txBody>
          <a:bodyPr wrap="square" lIns="0" tIns="0" rIns="0" bIns="0" rtlCol="0" anchor="ctr"/>
          <a:lstStyle/>
          <a:p>
            <a:pPr indent="0" marL="0">
              <a:buNone/>
            </a:pPr>
            <a:r>
              <a:rPr lang="en-US" sz="1200" b="1" dirty="0">
                <a:solidFill>
                  <a:srgbClr val="1B2436"/>
                </a:solidFill>
                <a:latin typeface="Calibri" pitchFamily="34" charset="0"/>
                <a:ea typeface="Calibri" pitchFamily="34" charset="-122"/>
                <a:cs typeface="Calibri" pitchFamily="34" charset="-120"/>
              </a:rPr>
              <a:t>Change in mean F1 vs our 0.6471 — every idea we tested</a:t>
            </a:r>
            <a:endParaRPr lang="en-US" sz="1200" dirty="0"/>
          </a:p>
        </p:txBody>
      </p:sp>
      <p:sp>
        <p:nvSpPr>
          <p:cNvPr id="8" name="Text 6"/>
          <p:cNvSpPr/>
          <p:nvPr/>
        </p:nvSpPr>
        <p:spPr>
          <a:xfrm>
            <a:off x="658368" y="2121408"/>
            <a:ext cx="7223760" cy="201168"/>
          </a:xfrm>
          <a:prstGeom prst="rect">
            <a:avLst/>
          </a:prstGeom>
          <a:noFill/>
          <a:ln/>
        </p:spPr>
        <p:txBody>
          <a:bodyPr wrap="square" lIns="0" tIns="0" rIns="0" bIns="0" rtlCol="0" anchor="ctr"/>
          <a:lstStyle/>
          <a:p>
            <a:pPr indent="0" marL="0">
              <a:buNone/>
            </a:pPr>
            <a:r>
              <a:rPr lang="en-US" sz="1050" dirty="0">
                <a:solidFill>
                  <a:srgbClr val="7C8797"/>
                </a:solidFill>
                <a:latin typeface="Calibri" pitchFamily="34" charset="0"/>
                <a:ea typeface="Calibri" pitchFamily="34" charset="-122"/>
                <a:cs typeface="Calibri" pitchFamily="34" charset="-120"/>
              </a:rPr>
              <a:t>Bars right of zero beat us; only one does, and by less than the noise floor.</a:t>
            </a:r>
            <a:endParaRPr lang="en-US" sz="1050" dirty="0"/>
          </a:p>
        </p:txBody>
      </p:sp>
      <p:graphicFrame>
        <p:nvGraphicFramePr>
          <p:cNvPr id="9" name="Chart 0" descr=""/>
          <p:cNvGraphicFramePr/>
          <p:nvPr/>
        </p:nvGraphicFramePr>
        <p:xfrm>
          <a:off x="548640" y="2340864"/>
          <a:ext cx="7315200" cy="32918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2340864"/>
            <a:ext cx="3438144" cy="1737360"/>
          </a:xfrm>
          <a:prstGeom prst="roundRect">
            <a:avLst>
              <a:gd name="adj" fmla="val 2632"/>
            </a:avLst>
          </a:prstGeom>
          <a:solidFill>
            <a:srgbClr val="F4F6F9"/>
          </a:solidFill>
          <a:ln/>
        </p:spPr>
      </p:sp>
      <p:sp>
        <p:nvSpPr>
          <p:cNvPr id="11" name="Text 8"/>
          <p:cNvSpPr/>
          <p:nvPr/>
        </p:nvSpPr>
        <p:spPr>
          <a:xfrm>
            <a:off x="8321040" y="2505456"/>
            <a:ext cx="2980944" cy="237744"/>
          </a:xfrm>
          <a:prstGeom prst="rect">
            <a:avLst/>
          </a:prstGeom>
          <a:noFill/>
          <a:ln/>
        </p:spPr>
        <p:txBody>
          <a:bodyPr wrap="square" lIns="0" tIns="0" rIns="0" bIns="0" rtlCol="0" anchor="ctr"/>
          <a:lstStyle/>
          <a:p>
            <a:pPr indent="0" marL="0">
              <a:buNone/>
            </a:pPr>
            <a:r>
              <a:rPr lang="en-US" sz="1000" b="1" spc="80" kern="0" dirty="0">
                <a:solidFill>
                  <a:srgbClr val="B45309"/>
                </a:solidFill>
                <a:latin typeface="Calibri" pitchFamily="34" charset="0"/>
                <a:ea typeface="Calibri" pitchFamily="34" charset="-122"/>
                <a:cs typeface="Calibri" pitchFamily="34" charset="-120"/>
              </a:rPr>
              <a:t>WHY THE BEST “WINNER” WAS REJECTED</a:t>
            </a:r>
            <a:endParaRPr lang="en-US" sz="1000" dirty="0"/>
          </a:p>
        </p:txBody>
      </p:sp>
      <p:sp>
        <p:nvSpPr>
          <p:cNvPr id="12" name="Text 9"/>
          <p:cNvSpPr/>
          <p:nvPr/>
        </p:nvSpPr>
        <p:spPr>
          <a:xfrm>
            <a:off x="8321040" y="2779776"/>
            <a:ext cx="2980944" cy="1188720"/>
          </a:xfrm>
          <a:prstGeom prst="rect">
            <a:avLst/>
          </a:prstGeom>
          <a:noFill/>
          <a:ln/>
        </p:spPr>
        <p:txBody>
          <a:bodyPr wrap="square" lIns="0" tIns="0" rIns="0" bIns="0" rtlCol="0" anchor="ctr"/>
          <a:lstStyle/>
          <a:p>
            <a:pPr indent="0" marL="0">
              <a:lnSpc>
                <a:spcPct val="118000"/>
              </a:lnSpc>
              <a:buNone/>
            </a:pPr>
            <a:r>
              <a:rPr lang="en-US" sz="1200" dirty="0">
                <a:solidFill>
                  <a:srgbClr val="1B2436"/>
                </a:solidFill>
                <a:latin typeface="Calibri" pitchFamily="34" charset="0"/>
                <a:ea typeface="Calibri" pitchFamily="34" charset="-122"/>
                <a:cs typeface="Calibri" pitchFamily="34" charset="-120"/>
              </a:rPr>
              <a:t>Tiered oversampling gained +0.0010 — one-fifth of the noise floor — and it </a:t>
            </a:r>
            <a:pPr indent="0" marL="0">
              <a:lnSpc>
                <a:spcPct val="118000"/>
              </a:lnSpc>
              <a:buNone/>
            </a:pPr>
            <a:r>
              <a:rPr lang="en-US" sz="1200" b="1" dirty="0">
                <a:solidFill>
                  <a:srgbClr val="1B2436"/>
                </a:solidFill>
                <a:latin typeface="Calibri" pitchFamily="34" charset="0"/>
                <a:ea typeface="Calibri" pitchFamily="34" charset="-122"/>
                <a:cs typeface="Calibri" pitchFamily="34" charset="-120"/>
              </a:rPr>
              <a:t>hurt seed 1</a:t>
            </a:r>
            <a:pPr indent="0" marL="0">
              <a:lnSpc>
                <a:spcPct val="118000"/>
              </a:lnSpc>
              <a:buNone/>
            </a:pPr>
            <a:r>
              <a:rPr lang="en-US" sz="1200" dirty="0">
                <a:solidFill>
                  <a:srgbClr val="1B2436"/>
                </a:solidFill>
                <a:latin typeface="Calibri" pitchFamily="34" charset="0"/>
                <a:ea typeface="Calibri" pitchFamily="34" charset="-122"/>
                <a:cs typeface="Calibri" pitchFamily="34" charset="-120"/>
              </a:rPr>
              <a:t>. Adopting it would be fitting our own test set, not improving the method.</a:t>
            </a:r>
            <a:endParaRPr lang="en-US" sz="1200" dirty="0"/>
          </a:p>
        </p:txBody>
      </p:sp>
      <p:sp>
        <p:nvSpPr>
          <p:cNvPr id="13" name="Shape 10"/>
          <p:cNvSpPr/>
          <p:nvPr/>
        </p:nvSpPr>
        <p:spPr>
          <a:xfrm>
            <a:off x="8092440" y="4206240"/>
            <a:ext cx="3438144" cy="2194560"/>
          </a:xfrm>
          <a:prstGeom prst="roundRect">
            <a:avLst>
              <a:gd name="adj" fmla="val 2083"/>
            </a:avLst>
          </a:prstGeom>
          <a:solidFill>
            <a:srgbClr val="F4F6F9"/>
          </a:solidFill>
          <a:ln/>
        </p:spPr>
      </p:sp>
      <p:sp>
        <p:nvSpPr>
          <p:cNvPr id="14" name="Text 11"/>
          <p:cNvSpPr/>
          <p:nvPr/>
        </p:nvSpPr>
        <p:spPr>
          <a:xfrm>
            <a:off x="8321040" y="4370832"/>
            <a:ext cx="2980944" cy="237744"/>
          </a:xfrm>
          <a:prstGeom prst="rect">
            <a:avLst/>
          </a:prstGeom>
          <a:noFill/>
          <a:ln/>
        </p:spPr>
        <p:txBody>
          <a:bodyPr wrap="square" lIns="0" tIns="0" rIns="0" bIns="0" rtlCol="0" anchor="ctr"/>
          <a:lstStyle/>
          <a:p>
            <a:pPr indent="0" marL="0">
              <a:buNone/>
            </a:pPr>
            <a:r>
              <a:rPr lang="en-US" sz="1000" b="1" spc="80" kern="0" dirty="0">
                <a:solidFill>
                  <a:srgbClr val="B45309"/>
                </a:solidFill>
                <a:latin typeface="Calibri" pitchFamily="34" charset="0"/>
                <a:ea typeface="Calibri" pitchFamily="34" charset="-122"/>
                <a:cs typeface="Calibri" pitchFamily="34" charset="-120"/>
              </a:rPr>
              <a:t>TWO RESULTS THAT SURPRISED US</a:t>
            </a:r>
            <a:endParaRPr lang="en-US" sz="1000" dirty="0"/>
          </a:p>
        </p:txBody>
      </p:sp>
      <p:sp>
        <p:nvSpPr>
          <p:cNvPr id="15" name="Text 12"/>
          <p:cNvSpPr/>
          <p:nvPr/>
        </p:nvSpPr>
        <p:spPr>
          <a:xfrm>
            <a:off x="8321040" y="4645152"/>
            <a:ext cx="2980944" cy="1645920"/>
          </a:xfrm>
          <a:prstGeom prst="rect">
            <a:avLst/>
          </a:prstGeom>
          <a:noFill/>
          <a:ln/>
        </p:spPr>
        <p:txBody>
          <a:bodyPr wrap="square" lIns="0" tIns="0" rIns="0" bIns="0" rtlCol="0" anchor="ctr"/>
          <a:lstStyle/>
          <a:p>
            <a:pPr indent="0" marL="0">
              <a:lnSpc>
                <a:spcPct val="114000"/>
              </a:lnSpc>
              <a:buNone/>
            </a:pPr>
            <a:r>
              <a:rPr lang="en-US" sz="1100" b="1" dirty="0">
                <a:solidFill>
                  <a:srgbClr val="1B2436"/>
                </a:solidFill>
                <a:latin typeface="Calibri" pitchFamily="34" charset="0"/>
                <a:ea typeface="Calibri" pitchFamily="34" charset="-122"/>
                <a:cs typeface="Calibri" pitchFamily="34" charset="-120"/>
              </a:rPr>
              <a:t>Query-by-committee ≡ probability. </a:t>
            </a:r>
            <a:pPr indent="0" marL="0">
              <a:lnSpc>
                <a:spcPct val="114000"/>
              </a:lnSpc>
              <a:buNone/>
            </a:pPr>
            <a:r>
              <a:rPr lang="en-US" sz="1100" dirty="0">
                <a:solidFill>
                  <a:srgbClr val="4A5568"/>
                </a:solidFill>
                <a:latin typeface="Calibri" pitchFamily="34" charset="0"/>
                <a:ea typeface="Calibri" pitchFamily="34" charset="-122"/>
                <a:cs typeface="Calibri" pitchFamily="34" charset="-120"/>
              </a:rPr>
              <a:t>A forest already is a committee — predict_proba is the tree vote share. Identical ranking, zero gain.
</a:t>
            </a:r>
            <a:pPr indent="0" marL="0">
              <a:lnSpc>
                <a:spcPct val="114000"/>
              </a:lnSpc>
              <a:buNone/>
            </a:pPr>
            <a:r>
              <a:rPr lang="en-US" sz="1100" b="1" dirty="0">
                <a:solidFill>
                  <a:srgbClr val="1B2436"/>
                </a:solidFill>
                <a:latin typeface="Calibri" pitchFamily="34" charset="0"/>
                <a:ea typeface="Calibri" pitchFamily="34" charset="-122"/>
                <a:cs typeface="Calibri" pitchFamily="34" charset="-120"/>
              </a:rPr>
              <a:t>Dropping hard negatives backfired </a:t>
            </a:r>
            <a:pPr indent="0" marL="0">
              <a:lnSpc>
                <a:spcPct val="114000"/>
              </a:lnSpc>
              <a:buNone/>
            </a:pPr>
            <a:r>
              <a:rPr lang="en-US" sz="1100" dirty="0">
                <a:solidFill>
                  <a:srgbClr val="4A5568"/>
                </a:solidFill>
                <a:latin typeface="Calibri" pitchFamily="34" charset="0"/>
                <a:ea typeface="Calibri" pitchFamily="34" charset="-122"/>
                <a:cs typeface="Calibri" pitchFamily="34" charset="-120"/>
              </a:rPr>
              <a:t>(0.647 → 0.627). Our labeled set is already 60% positive; those boundary negatives are the only thing teaching precision.</a:t>
            </a:r>
            <a:endParaRPr lang="en-US" sz="1100" dirty="0"/>
          </a:p>
        </p:txBody>
      </p:sp>
      <p:sp>
        <p:nvSpPr>
          <p:cNvPr id="16" name="Text 13"/>
          <p:cNvSpPr/>
          <p:nvPr/>
        </p:nvSpPr>
        <p:spPr>
          <a:xfrm>
            <a:off x="658368" y="5870448"/>
            <a:ext cx="7223760" cy="512064"/>
          </a:xfrm>
          <a:prstGeom prst="rect">
            <a:avLst/>
          </a:prstGeom>
          <a:noFill/>
          <a:ln/>
        </p:spPr>
        <p:txBody>
          <a:bodyPr wrap="square" lIns="0" tIns="0" rIns="0" bIns="0" rtlCol="0" anchor="ctr"/>
          <a:lstStyle/>
          <a:p>
            <a:pPr indent="0" marL="0">
              <a:lnSpc>
                <a:spcPct val="114000"/>
              </a:lnSpc>
              <a:buNone/>
            </a:pPr>
            <a:r>
              <a:rPr lang="en-US" sz="1100" i="1" dirty="0">
                <a:solidFill>
                  <a:srgbClr val="7C8797"/>
                </a:solidFill>
                <a:latin typeface="Calibri" pitchFamily="34" charset="0"/>
                <a:ea typeface="Calibri" pitchFamily="34" charset="-122"/>
                <a:cs typeface="Calibri" pitchFamily="34" charset="-120"/>
              </a:rPr>
              <a:t>Where the ceiling comes from: round-5 precision is 44%, closing on the 33% base rate. The ~1,800 positives we never catch look like “Stayed” to this forest — not our algorithm, the features.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0287000" y="457200"/>
            <a:ext cx="868680" cy="274320"/>
          </a:xfrm>
          <a:prstGeom prst="roundRect">
            <a:avLst>
              <a:gd name="adj" fmla="val 50000"/>
            </a:avLst>
          </a:prstGeom>
          <a:solidFill>
            <a:srgbClr val="E3A140"/>
          </a:solidFill>
          <a:ln/>
        </p:spPr>
      </p:sp>
      <p:sp>
        <p:nvSpPr>
          <p:cNvPr id="3" name="Text 1"/>
          <p:cNvSpPr/>
          <p:nvPr/>
        </p:nvSpPr>
        <p:spPr>
          <a:xfrm>
            <a:off x="10287000" y="457200"/>
            <a:ext cx="868680" cy="274320"/>
          </a:xfrm>
          <a:prstGeom prst="rect">
            <a:avLst/>
          </a:prstGeom>
          <a:noFill/>
          <a:ln/>
        </p:spPr>
        <p:txBody>
          <a:bodyPr wrap="square" lIns="0" tIns="0" rIns="0" bIns="0" rtlCol="0" anchor="ctr"/>
          <a:lstStyle/>
          <a:p>
            <a:pPr algn="ctr" indent="0" marL="0">
              <a:buNone/>
            </a:pPr>
            <a:r>
              <a:rPr lang="en-US" sz="1000" b="1" spc="100" kern="0" dirty="0">
                <a:solidFill>
                  <a:srgbClr val="14213D"/>
                </a:solidFill>
                <a:latin typeface="Calibri" pitchFamily="34" charset="0"/>
                <a:ea typeface="Calibri" pitchFamily="34" charset="-122"/>
                <a:cs typeface="Calibri" pitchFamily="34" charset="-120"/>
              </a:rPr>
              <a:t>LIOR</a:t>
            </a:r>
            <a:endParaRPr lang="en-US" sz="1000" dirty="0"/>
          </a:p>
        </p:txBody>
      </p:sp>
      <p:sp>
        <p:nvSpPr>
          <p:cNvPr id="4" name="Text 2"/>
          <p:cNvSpPr/>
          <p:nvPr/>
        </p:nvSpPr>
        <p:spPr>
          <a:xfrm>
            <a:off x="11265408" y="457200"/>
            <a:ext cx="466344" cy="274320"/>
          </a:xfrm>
          <a:prstGeom prst="rect">
            <a:avLst/>
          </a:prstGeom>
          <a:noFill/>
          <a:ln/>
        </p:spPr>
        <p:txBody>
          <a:bodyPr wrap="square" lIns="0" tIns="0" rIns="0" bIns="0" rtlCol="0" anchor="ctr"/>
          <a:lstStyle/>
          <a:p>
            <a:pPr algn="r" indent="0" marL="0">
              <a:buNone/>
            </a:pPr>
            <a:r>
              <a:rPr lang="en-US" sz="1000" dirty="0">
                <a:solidFill>
                  <a:srgbClr val="8E9CB8"/>
                </a:solidFill>
                <a:latin typeface="Calibri" pitchFamily="34" charset="0"/>
                <a:ea typeface="Calibri" pitchFamily="34" charset="-122"/>
                <a:cs typeface="Calibri" pitchFamily="34" charset="-120"/>
              </a:rPr>
              <a:t>6 / 6</a:t>
            </a:r>
            <a:endParaRPr lang="en-US" sz="1000" dirty="0"/>
          </a:p>
        </p:txBody>
      </p:sp>
      <p:sp>
        <p:nvSpPr>
          <p:cNvPr id="5" name="Text 3"/>
          <p:cNvSpPr/>
          <p:nvPr/>
        </p:nvSpPr>
        <p:spPr>
          <a:xfrm>
            <a:off x="658368" y="658368"/>
            <a:ext cx="9509760" cy="6858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Result</a:t>
            </a:r>
            <a:endParaRPr lang="en-US" sz="3000" dirty="0"/>
          </a:p>
        </p:txBody>
      </p:sp>
      <p:sp>
        <p:nvSpPr>
          <p:cNvPr id="6" name="Text 4"/>
          <p:cNvSpPr/>
          <p:nvPr/>
        </p:nvSpPr>
        <p:spPr>
          <a:xfrm>
            <a:off x="658368" y="1417320"/>
            <a:ext cx="4572000" cy="1234440"/>
          </a:xfrm>
          <a:prstGeom prst="rect">
            <a:avLst/>
          </a:prstGeom>
          <a:noFill/>
          <a:ln/>
        </p:spPr>
        <p:txBody>
          <a:bodyPr wrap="square" lIns="0" tIns="0" rIns="0" bIns="0" rtlCol="0" anchor="ctr"/>
          <a:lstStyle/>
          <a:p>
            <a:pPr indent="0" marL="0">
              <a:buNone/>
            </a:pPr>
            <a:r>
              <a:rPr lang="en-US" sz="7200" b="1" dirty="0">
                <a:solidFill>
                  <a:srgbClr val="E3A140"/>
                </a:solidFill>
                <a:latin typeface="Cambria" pitchFamily="34" charset="0"/>
                <a:ea typeface="Cambria" pitchFamily="34" charset="-122"/>
                <a:cs typeface="Cambria" pitchFamily="34" charset="-120"/>
              </a:rPr>
              <a:t>0.6471</a:t>
            </a:r>
            <a:endParaRPr lang="en-US" sz="7200" dirty="0"/>
          </a:p>
        </p:txBody>
      </p:sp>
      <p:sp>
        <p:nvSpPr>
          <p:cNvPr id="7" name="Text 5"/>
          <p:cNvSpPr/>
          <p:nvPr/>
        </p:nvSpPr>
        <p:spPr>
          <a:xfrm>
            <a:off x="658368" y="2670048"/>
            <a:ext cx="4572000" cy="310896"/>
          </a:xfrm>
          <a:prstGeom prst="rect">
            <a:avLst/>
          </a:prstGeom>
          <a:noFill/>
          <a:ln/>
        </p:spPr>
        <p:txBody>
          <a:bodyPr wrap="square" lIns="0" tIns="0" rIns="0" bIns="0" rtlCol="0" anchor="ctr"/>
          <a:lstStyle/>
          <a:p>
            <a:pPr indent="0" marL="0">
              <a:buNone/>
            </a:pPr>
            <a:r>
              <a:rPr lang="en-US" sz="1350" dirty="0">
                <a:solidFill>
                  <a:srgbClr val="C3CEE4"/>
                </a:solidFill>
                <a:latin typeface="Calibri" pitchFamily="34" charset="0"/>
                <a:ea typeface="Calibri" pitchFamily="34" charset="-122"/>
                <a:cs typeface="Calibri" pitchFamily="34" charset="-120"/>
              </a:rPr>
              <a:t>mean F1 (“Left”)  ·  over seeds 1, 2, 3</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 y="3108960"/>
          <a:ext cx="5760720" cy="914400"/>
        </p:xfrm>
        <a:graphic>
          <a:graphicData uri="http://schemas.openxmlformats.org/drawingml/2006/table">
            <a:tbl>
              <a:tblPr/>
              <a:tblGrid>
                <a:gridCol w="822960"/>
                <a:gridCol w="1188720"/>
                <a:gridCol w="1371600"/>
                <a:gridCol w="1188720"/>
                <a:gridCol w="1188720"/>
              </a:tblGrid>
              <a:tr h="347472">
                <a:tc>
                  <a:txBody>
                    <a:bodyPr/>
                    <a:lstStyle/>
                    <a:p>
                      <a:pPr algn="l" indent="0" marL="0">
                        <a:buNone/>
                      </a:pPr>
                      <a:r>
                        <a:rPr lang="en-US" sz="1100" b="1" dirty="0">
                          <a:solidFill>
                            <a:srgbClr val="8E9CB8"/>
                          </a:solidFill>
                          <a:latin typeface="Calibri" pitchFamily="34" charset="0"/>
                          <a:ea typeface="Calibri" pitchFamily="34" charset="-122"/>
                          <a:cs typeface="Calibri" pitchFamily="34" charset="-120"/>
                        </a:rPr>
                        <a:t>Seed</a:t>
                      </a:r>
                      <a:endParaRPr lang="en-US" sz="110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100" b="1" dirty="0">
                          <a:solidFill>
                            <a:srgbClr val="8E9CB8"/>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100" b="1" dirty="0">
                          <a:solidFill>
                            <a:srgbClr val="8E9CB8"/>
                          </a:solidFill>
                          <a:latin typeface="Calibri" pitchFamily="34" charset="0"/>
                          <a:ea typeface="Calibri" pitchFamily="34" charset="-122"/>
                          <a:cs typeface="Calibri" pitchFamily="34" charset="-120"/>
                        </a:rPr>
                        <a:t>Precision</a:t>
                      </a:r>
                      <a:endParaRPr lang="en-US" sz="110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100" b="1" dirty="0">
                          <a:solidFill>
                            <a:srgbClr val="8E9CB8"/>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100" b="1" dirty="0">
                          <a:solidFill>
                            <a:srgbClr val="8E9CB8"/>
                          </a:solidFill>
                          <a:latin typeface="Calibri" pitchFamily="34" charset="0"/>
                          <a:ea typeface="Calibri" pitchFamily="34" charset="-122"/>
                          <a:cs typeface="Calibri" pitchFamily="34" charset="-120"/>
                        </a:rPr>
                        <a:t>Runtime</a:t>
                      </a:r>
                      <a:endParaRPr lang="en-US" sz="110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r>
              <a:tr h="347472">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0.6381</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0.573</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0.720</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19.3 s</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r>
              <a:tr h="347472">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0.6491</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0.588</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0.725</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31.3 s</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r>
              <a:tr h="347472">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0.6539</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0.592</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0.730</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c>
                  <a:txBody>
                    <a:bodyPr/>
                    <a:lstStyle/>
                    <a:p>
                      <a:pPr algn="l" indent="0" marL="0">
                        <a:buNone/>
                      </a:pPr>
                      <a:r>
                        <a:rPr lang="en-US" sz="1250" dirty="0">
                          <a:solidFill>
                            <a:srgbClr val="FFFFFF"/>
                          </a:solidFill>
                          <a:latin typeface="Calibri" pitchFamily="34" charset="0"/>
                          <a:ea typeface="Calibri" pitchFamily="34" charset="-122"/>
                          <a:cs typeface="Calibri" pitchFamily="34" charset="-120"/>
                        </a:rPr>
                        <a:t>34.5 s</a:t>
                      </a:r>
                      <a:endParaRPr lang="en-US" sz="1250" dirty="0">
                        <a:latin typeface="Calibri" charset="0"/>
                        <a:ea typeface="Calibri" charset="0"/>
                        <a:cs typeface="Calibri" charset="0"/>
                      </a:endParaRPr>
                    </a:p>
                  </a:txBody>
                  <a:tcPr marL="91440" marR="91440" marT="45720" marB="45720" anchor="ctr">
                    <a:lnL w="9525" cap="flat" cmpd="sng" algn="ctr">
                      <a:solidFill>
                        <a:srgbClr val="2C3A5C"/>
                      </a:solidFill>
                      <a:prstDash val="solid"/>
                      <a:round/>
                      <a:headEnd type="none" w="med" len="med"/>
                      <a:tailEnd type="none" w="med" len="med"/>
                    </a:lnL>
                    <a:lnR w="9525" cap="flat" cmpd="sng" algn="ctr">
                      <a:solidFill>
                        <a:srgbClr val="2C3A5C"/>
                      </a:solidFill>
                      <a:prstDash val="solid"/>
                      <a:round/>
                      <a:headEnd type="none" w="med" len="med"/>
                      <a:tailEnd type="none" w="med" len="med"/>
                    </a:lnR>
                    <a:lnT w="9525" cap="flat" cmpd="sng" algn="ctr">
                      <a:solidFill>
                        <a:srgbClr val="2C3A5C"/>
                      </a:solidFill>
                      <a:prstDash val="solid"/>
                      <a:round/>
                      <a:headEnd type="none" w="med" len="med"/>
                      <a:tailEnd type="none" w="med" len="med"/>
                    </a:lnT>
                    <a:lnB w="9525" cap="flat" cmpd="sng" algn="ctr">
                      <a:solidFill>
                        <a:srgbClr val="2C3A5C"/>
                      </a:solidFill>
                      <a:prstDash val="solid"/>
                      <a:round/>
                      <a:headEnd type="none" w="med" len="med"/>
                      <a:tailEnd type="none" w="med" len="med"/>
                    </a:lnB>
                    <a:solidFill>
                      <a:srgbClr val="14213D"/>
                    </a:solidFill>
                  </a:tcPr>
                </a:tc>
              </a:tr>
            </a:tbl>
          </a:graphicData>
        </a:graphic>
      </p:graphicFrame>
      <p:sp>
        <p:nvSpPr>
          <p:cNvPr id="9" name="Text 6"/>
          <p:cNvSpPr/>
          <p:nvPr/>
        </p:nvSpPr>
        <p:spPr>
          <a:xfrm>
            <a:off x="658368" y="4846320"/>
            <a:ext cx="5760720" cy="548640"/>
          </a:xfrm>
          <a:prstGeom prst="rect">
            <a:avLst/>
          </a:prstGeom>
          <a:noFill/>
          <a:ln/>
        </p:spPr>
        <p:txBody>
          <a:bodyPr wrap="square" lIns="0" tIns="0" rIns="0" bIns="0" rtlCol="0" anchor="ctr"/>
          <a:lstStyle/>
          <a:p>
            <a:pPr indent="0" marL="0">
              <a:lnSpc>
                <a:spcPct val="115000"/>
              </a:lnSpc>
              <a:buNone/>
            </a:pPr>
            <a:r>
              <a:rPr lang="en-US" sz="1150" dirty="0">
                <a:solidFill>
                  <a:srgbClr val="8E9CB8"/>
                </a:solidFill>
                <a:latin typeface="Calibri" pitchFamily="34" charset="0"/>
                <a:ea typeface="Calibri" pitchFamily="34" charset="-122"/>
                <a:cs typeface="Calibri" pitchFamily="34" charset="-120"/>
              </a:rPr>
              <a:t>Budget used: exactly 5,000 unique IDs.  ·  Runtime cap 60 s/seed — worst case 34.5 s.  ·  Guarantee line 0.55 cleared by +0.097.</a:t>
            </a:r>
            <a:endParaRPr lang="en-US" sz="1150" dirty="0"/>
          </a:p>
        </p:txBody>
      </p:sp>
      <p:sp>
        <p:nvSpPr>
          <p:cNvPr id="10" name="Shape 7"/>
          <p:cNvSpPr/>
          <p:nvPr/>
        </p:nvSpPr>
        <p:spPr>
          <a:xfrm>
            <a:off x="6949440" y="1517904"/>
            <a:ext cx="4581144" cy="4443984"/>
          </a:xfrm>
          <a:prstGeom prst="roundRect">
            <a:avLst>
              <a:gd name="adj" fmla="val 1029"/>
            </a:avLst>
          </a:prstGeom>
          <a:solidFill>
            <a:srgbClr val="22304F"/>
          </a:solidFill>
          <a:ln/>
        </p:spPr>
      </p:sp>
      <p:sp>
        <p:nvSpPr>
          <p:cNvPr id="11" name="Text 8"/>
          <p:cNvSpPr/>
          <p:nvPr/>
        </p:nvSpPr>
        <p:spPr>
          <a:xfrm>
            <a:off x="7242048" y="1792224"/>
            <a:ext cx="3995928" cy="256032"/>
          </a:xfrm>
          <a:prstGeom prst="rect">
            <a:avLst/>
          </a:prstGeom>
          <a:noFill/>
          <a:ln/>
        </p:spPr>
        <p:txBody>
          <a:bodyPr wrap="square" lIns="0" tIns="0" rIns="0" bIns="0" rtlCol="0" anchor="ctr"/>
          <a:lstStyle/>
          <a:p>
            <a:pPr indent="0" marL="0">
              <a:buNone/>
            </a:pPr>
            <a:r>
              <a:rPr lang="en-US" sz="1100" b="1" spc="110" kern="0" dirty="0">
                <a:solidFill>
                  <a:srgbClr val="E3A140"/>
                </a:solidFill>
                <a:latin typeface="Calibri" pitchFamily="34" charset="0"/>
                <a:ea typeface="Calibri" pitchFamily="34" charset="-122"/>
                <a:cs typeface="Calibri" pitchFamily="34" charset="-120"/>
              </a:rPr>
              <a:t>WHAT WE WOULD TELL THE NEXT TEAM</a:t>
            </a:r>
            <a:endParaRPr lang="en-US" sz="1100" dirty="0"/>
          </a:p>
        </p:txBody>
      </p:sp>
      <p:sp>
        <p:nvSpPr>
          <p:cNvPr id="12" name="Text 9"/>
          <p:cNvSpPr/>
          <p:nvPr/>
        </p:nvSpPr>
        <p:spPr>
          <a:xfrm>
            <a:off x="7242048" y="2194560"/>
            <a:ext cx="3995928" cy="1920240"/>
          </a:xfrm>
          <a:prstGeom prst="rect">
            <a:avLst/>
          </a:prstGeom>
          <a:noFill/>
          <a:ln/>
        </p:spPr>
        <p:txBody>
          <a:bodyPr wrap="square" lIns="0" tIns="0" rIns="0" bIns="0" rtlCol="0" anchor="ctr"/>
          <a:lstStyle/>
          <a:p>
            <a:pPr indent="0" marL="0">
              <a:lnSpc>
                <a:spcPct val="122000"/>
              </a:lnSpc>
              <a:buNone/>
            </a:pPr>
            <a:r>
              <a:rPr lang="en-US" sz="1300" b="1" dirty="0">
                <a:solidFill>
                  <a:srgbClr val="FFFFFF"/>
                </a:solidFill>
                <a:latin typeface="Calibri" pitchFamily="34" charset="0"/>
                <a:ea typeface="Calibri" pitchFamily="34" charset="-122"/>
                <a:cs typeface="Calibri" pitchFamily="34" charset="-120"/>
              </a:rPr>
              <a:t>Read the metric before writing the algorithm. </a:t>
            </a:r>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“F1 of a minority class at a frozen threshold” quietly rewrites the problem from “label the most informative points” to “find the most positives and train on the right class ratio.” Every gain we made came from that sentence; every idea that ignored it lost.</a:t>
            </a:r>
            <a:endParaRPr lang="en-US" sz="1300" dirty="0"/>
          </a:p>
        </p:txBody>
      </p:sp>
      <p:sp>
        <p:nvSpPr>
          <p:cNvPr id="13" name="Text 10"/>
          <p:cNvSpPr/>
          <p:nvPr/>
        </p:nvSpPr>
        <p:spPr>
          <a:xfrm>
            <a:off x="7242048" y="4279392"/>
            <a:ext cx="3995928" cy="1463040"/>
          </a:xfrm>
          <a:prstGeom prst="rect">
            <a:avLst/>
          </a:prstGeom>
          <a:noFill/>
          <a:ln/>
        </p:spPr>
        <p:txBody>
          <a:bodyPr wrap="square" lIns="0" tIns="0" rIns="0" bIns="0" rtlCol="0" anchor="ctr"/>
          <a:lstStyle/>
          <a:p>
            <a:pPr indent="0" marL="0">
              <a:lnSpc>
                <a:spcPct val="122000"/>
              </a:lnSpc>
              <a:buNone/>
            </a:pPr>
            <a:r>
              <a:rPr lang="en-US" sz="1300" b="1" dirty="0">
                <a:solidFill>
                  <a:srgbClr val="FFFFFF"/>
                </a:solidFill>
                <a:latin typeface="Calibri" pitchFamily="34" charset="0"/>
                <a:ea typeface="Calibri" pitchFamily="34" charset="-122"/>
                <a:cs typeface="Calibri" pitchFamily="34" charset="-120"/>
              </a:rPr>
              <a:t>Measure your noise floor first. </a:t>
            </a:r>
            <a:pPr indent="0" marL="0">
              <a:lnSpc>
                <a:spcPct val="122000"/>
              </a:lnSpc>
              <a:buNone/>
            </a:pPr>
            <a:r>
              <a:rPr lang="en-US" sz="1300" dirty="0">
                <a:solidFill>
                  <a:srgbClr val="C3CEE4"/>
                </a:solidFill>
                <a:latin typeface="Calibri" pitchFamily="34" charset="0"/>
                <a:ea typeface="Calibri" pitchFamily="34" charset="-122"/>
                <a:cs typeface="Calibri" pitchFamily="34" charset="-120"/>
              </a:rPr>
              <a:t>Ours was ±0.005 — from training row order alone. Without it we would have “improved” the model nine times and shipped nothing but overfitting.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B Section A - Active Learning for Employee Attrition</dc:title>
  <dc:subject>PptxGenJS Presentation</dc:subject>
  <dc:creator>Raz Ben Aharon; Lior Malachi</dc:creator>
  <cp:lastModifiedBy>Raz Ben Aharon; Lior Malachi</cp:lastModifiedBy>
  <cp:revision>1</cp:revision>
  <dcterms:created xsi:type="dcterms:W3CDTF">2026-07-17T03:48:33Z</dcterms:created>
  <dcterms:modified xsi:type="dcterms:W3CDTF">2026-07-17T03:48:33Z</dcterms:modified>
</cp:coreProperties>
</file>